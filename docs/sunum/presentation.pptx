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AUC</c:v>
                </c:pt>
              </c:strCache>
            </c:strRef>
          </c:tx>
          <c:dPt>
            <c:idx val="0"/>
            <c:spPr>
              <a:solidFill>
                <a:srgbClr val="C2410C"/>
              </a:solidFill>
            </c:spPr>
          </c:dPt>
          <c:dPt>
            <c:idx val="1"/>
            <c:spPr>
              <a:solidFill>
                <a:srgbClr val="2B5C8F"/>
              </a:solidFill>
            </c:spPr>
          </c:dPt>
          <c:dPt>
            <c:idx val="2"/>
            <c:spPr>
              <a:solidFill>
                <a:srgbClr val="17724F"/>
              </a:solidFill>
            </c:spPr>
          </c:dPt>
          <c:dPt>
            <c:idx val="3"/>
            <c:spPr>
              <a:solidFill>
                <a:srgbClr val="2B5C8F"/>
              </a:solidFill>
            </c:spPr>
          </c:dPt>
          <c:dPt>
            <c:idx val="4"/>
            <c:spPr>
              <a:solidFill>
                <a:srgbClr val="2B5C8F"/>
              </a:solidFill>
            </c:spPr>
          </c:dPt>
          <c:dPt>
            <c:idx val="5"/>
            <c:spPr>
              <a:solidFill>
                <a:srgbClr val="17724F"/>
              </a:solidFill>
            </c:spPr>
          </c:dPt>
          <c:cat>
            <c:strRef>
              <c:f>Sheet1!$A$2:$A$7</c:f>
              <c:strCache>
                <c:ptCount val="6"/>
                <c:pt idx="0">
                  <c:v>gemma3 · M1 · text</c:v>
                </c:pt>
                <c:pt idx="1">
                  <c:v>gemma3 · M1 · behavior</c:v>
                </c:pt>
                <c:pt idx="2">
                  <c:v>gemma3 · M2 · text</c:v>
                </c:pt>
                <c:pt idx="3">
                  <c:v>qwen2.5 · M1 · text</c:v>
                </c:pt>
                <c:pt idx="4">
                  <c:v>qwen2.5 · M1 · behavior</c:v>
                </c:pt>
                <c:pt idx="5">
                  <c:v>qwen2.5 · M2 · text</c:v>
                </c:pt>
              </c:strCache>
            </c:strRef>
          </c:cat>
          <c:val>
            <c:numRef>
              <c:f>Sheet1!$B$2:$B$7</c:f>
              <c:numCache>
                <c:formatCode>General</c:formatCode>
                <c:ptCount val="6"/>
                <c:pt idx="0">
                  <c:v>0.82</c:v>
                </c:pt>
                <c:pt idx="1">
                  <c:v>0.48</c:v>
                </c:pt>
                <c:pt idx="2">
                  <c:v>0.45</c:v>
                </c:pt>
                <c:pt idx="3">
                  <c:v>0.61</c:v>
                </c:pt>
                <c:pt idx="4">
                  <c:v>0.58</c:v>
                </c:pt>
                <c:pt idx="5">
                  <c:v>0.42</c:v>
                </c:pt>
              </c:numCache>
            </c:numRef>
          </c:val>
        </c:ser>
        <c:dLbls>
          <c:numFmt formatCode="0.00" sourceLinked="0"/>
          <c:txPr>
            <a:bodyPr/>
            <a:lstStyle/>
            <a:p>
              <a:pPr>
                <a:defRPr sz="13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crossAx val="-2113994440"/>
        <c:crosses val="autoZero"/>
        <c:auto val="1"/>
        <c:lblAlgn val="ctr"/>
        <c:lblOffset val="100"/>
        <c:noMultiLvlLbl val="0"/>
      </c:catAx>
      <c:valAx>
        <c:axId val="-2113994440"/>
        <c:scaling>
          <c:max val="1.0"/>
          <c:min val="0.0"/>
        </c:scaling>
        <c:delete val="0"/>
        <c:axPos val="b"/>
        <c:majorGridlines>
          <c:spPr>
            <a:ln>
              <a:solidFill>
                <a:srgbClr val="E4E9EE"/>
              </a:solidFill>
            </a:ln>
          </c:spPr>
        </c:majorGridlines>
        <c:majorTickMark val="out"/>
        <c:minorTickMark val="none"/>
        <c:tickLblPos val="nextTo"/>
        <c:crossAx val="-2068027336"/>
        <c:crosses val="autoZero"/>
        <c:majorUnit val="0.5"/>
      </c:valAx>
    </c:plotArea>
    <c:dispBlanksAs val="gap"/>
  </c:chart>
  <c:txPr>
    <a:bodyPr/>
    <a:lstStyle/>
    <a:p>
      <a:pPr>
        <a:defRPr sz="13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 s). A customer-service bot can read confidential documents but is forbidden to write them. Our question: if it never writes a secret, can its behavior still reveal that the secret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(50 s). Service agents search company documents and let an LLM write the reply; some documents are confidential. Direct leakage is the secret appearing in the reply. Side-channel leakage is subtler: the reply never states the secret, but its tone, refusals, routing or timing reveal that a confidential document exists. Our observer is an ordinary customer who only sends legitimate messages, so no attack is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and gap (50 s). An ACL labels documents public, internal or confidential. Under the weak ACL (M1) confidential documents are retrieved and only the prompt forbids revealing them; under the strong ACL (M2) they are filtered before the model. Direct questions leaked in 16 of 20 cases under M1 and 0 under M2. Related work attacks the network layer (token lengths, timing, packet sizes) or queries RAG systems with crafted or injected prompts. We study the application layer, with legitimate messages only, and we score defenses on security and utility.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(55 s). One message goes through retrieval of the top five chunks, the ACL mode, a prompt, a local LLM at temperature zero, and a JSON decision that is logged. Only the ACL step differs between M1 and M2. Probes touch a confidential topic; controls have the same shape and length but another topic. Data are public Enron emails plus fabricated canary documents, so the ground truth is known. 20 topics, 5 variants, 2 kinds, 2 modes, 2 models give 800 calls.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(60 s). Under the weak ACL, gemma3's reply text lets the decoder tell secret topics apart: AUC 0.82, p 0.004. Behavior fields show no significant signal, and under the strong ACL nothing leaks. Masking topic words, numbers, names and 210 secret-only words did not reduce the signal (0.83 to 0.82): the signal is writing style. With confidential context the model uses we and our more, apologizes less and gives fewer contact details.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Masking (55 s). Instead of dropping a confidential document, we keep it in the context but mask its sensitive parts just before the prompt is built. Oracle masking replaces a hand-listed set of secret spans; rule masking uses frozen regex rules for numbers, dates and names. Direct leakage drops from 0.50 to zero and utility stays near the undefended agent, unlike M2 whose resolution rate falls to 0.67. But the style channel stays open: AUC is 0.84 with oracle and 0.69 with rule masking, against 0.45 for M2, because a masked document still says that the topic exists.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Defenses (60 s). We scored each defense on security and on utility. Normalizing refusals or hiding decisions does not help, because what leaks is the style of normal replies. Only keeping confidential text out of the context closes the channel: scoped context is costly (recall loss 0.30), M2 is cheaper but lowers gemma3's resolution rate. Masking removes content leakage and keeps utility, but the topic's existence still leaks (AUC 0.69 with rule masking). In an additional multi-user study, a shared memory leaked user A's private data to user B in 52 to 72 percent of replies; per-user isolation reduced it to 0 to 2 percent.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and conclusion (50 s). Limits: small scale, two small local models, single-author data and a single secret definition, no multiple-testing correction, and the behavior channel is 'not found', not 'not there'. Conclusions: weak ACL leaks directly, the style of replies is the side channel, only keeping confidential text out of the context closes it, and shared memory leaks across users while per-user isolation removes it. Future work: more topics and repetitions, a commercial model, other secret policies, isolation with real authentication.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822960" y="822960"/>
            <a:ext cx="10515600" cy="457200"/>
          </a:xfrm>
          <a:prstGeom prst="rect">
            <a:avLst/>
          </a:prstGeom>
          <a:noFill/>
        </p:spPr>
        <p:txBody>
          <a:bodyPr wrap="square" lIns="0" rIns="0" tIns="0" bIns="0" anchor="t">
            <a:spAutoFit/>
          </a:bodyPr>
          <a:lstStyle/>
          <a:p>
            <a:pPr algn="l">
              <a:spcAft>
                <a:spcPts val="400"/>
              </a:spcAft>
            </a:pPr>
            <a:r>
              <a:rPr sz="2000" b="0" i="0">
                <a:solidFill>
                  <a:srgbClr val="8FA3B8"/>
                </a:solidFill>
                <a:latin typeface="Consolas"/>
              </a:rPr>
              <a:t>BLG558E - Security &amp; Privacy - Final Project</a:t>
            </a:r>
          </a:p>
        </p:txBody>
      </p:sp>
      <p:sp>
        <p:nvSpPr>
          <p:cNvPr id="3" name="TextBox 2"/>
          <p:cNvSpPr txBox="1"/>
          <p:nvPr/>
        </p:nvSpPr>
        <p:spPr>
          <a:xfrm>
            <a:off x="822960" y="2103120"/>
            <a:ext cx="10515600" cy="2194560"/>
          </a:xfrm>
          <a:prstGeom prst="rect">
            <a:avLst/>
          </a:prstGeom>
          <a:noFill/>
        </p:spPr>
        <p:txBody>
          <a:bodyPr wrap="square" lIns="0" rIns="0" tIns="0" bIns="0" anchor="t">
            <a:spAutoFit/>
          </a:bodyPr>
          <a:lstStyle/>
          <a:p>
            <a:pPr algn="l">
              <a:spcAft>
                <a:spcPts val="400"/>
              </a:spcAft>
            </a:pPr>
            <a:r>
              <a:rPr sz="4600" b="1" i="0">
                <a:solidFill>
                  <a:srgbClr val="EEF2F6"/>
                </a:solidFill>
                <a:latin typeface="Cambria"/>
              </a:rPr>
              <a:t>Behavioral Side-Channel Leakage in External AI Service Agents</a:t>
            </a:r>
          </a:p>
        </p:txBody>
      </p:sp>
      <p:sp>
        <p:nvSpPr>
          <p:cNvPr id="4" name="TextBox 3"/>
          <p:cNvSpPr txBox="1"/>
          <p:nvPr/>
        </p:nvSpPr>
        <p:spPr>
          <a:xfrm>
            <a:off x="822960" y="4434840"/>
            <a:ext cx="10515600" cy="731520"/>
          </a:xfrm>
          <a:prstGeom prst="rect">
            <a:avLst/>
          </a:prstGeom>
          <a:noFill/>
        </p:spPr>
        <p:txBody>
          <a:bodyPr wrap="square" lIns="0" rIns="0" tIns="0" bIns="0" anchor="t">
            <a:spAutoFit/>
          </a:bodyPr>
          <a:lstStyle/>
          <a:p>
            <a:pPr algn="l">
              <a:spcAft>
                <a:spcPts val="400"/>
              </a:spcAft>
            </a:pPr>
            <a:r>
              <a:rPr sz="2600" b="0" i="0">
                <a:solidFill>
                  <a:srgbClr val="F08A63"/>
                </a:solidFill>
                <a:latin typeface="Calibri"/>
              </a:rPr>
              <a:t>Can an agent give away a secret without ever writing it?</a:t>
            </a:r>
          </a:p>
        </p:txBody>
      </p:sp>
      <p:sp>
        <p:nvSpPr>
          <p:cNvPr id="5" name="TextBox 4"/>
          <p:cNvSpPr txBox="1"/>
          <p:nvPr/>
        </p:nvSpPr>
        <p:spPr>
          <a:xfrm>
            <a:off x="822960" y="5943600"/>
            <a:ext cx="7315200" cy="365760"/>
          </a:xfrm>
          <a:prstGeom prst="rect">
            <a:avLst/>
          </a:prstGeom>
          <a:noFill/>
        </p:spPr>
        <p:txBody>
          <a:bodyPr wrap="square" lIns="0" rIns="0" tIns="0" bIns="0" anchor="t">
            <a:spAutoFit/>
          </a:bodyPr>
          <a:lstStyle/>
          <a:p>
            <a:pPr algn="l">
              <a:spcAft>
                <a:spcPts val="400"/>
              </a:spcAft>
            </a:pPr>
            <a:r>
              <a:rPr sz="1800" b="0" i="0">
                <a:solidFill>
                  <a:srgbClr val="8FA3B8"/>
                </a:solidFill>
                <a:latin typeface="Calibri"/>
              </a:rPr>
              <a:t>[Name Surname]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Problem: can behavior reveal an unwritten secret?</a:t>
            </a:r>
          </a:p>
        </p:txBody>
      </p:sp>
      <p:sp>
        <p:nvSpPr>
          <p:cNvPr id="4" name="Rounded Rectangle 3"/>
          <p:cNvSpPr/>
          <p:nvPr/>
        </p:nvSpPr>
        <p:spPr>
          <a:xfrm>
            <a:off x="731520" y="1371600"/>
            <a:ext cx="265176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Customer</a:t>
            </a:r>
          </a:p>
          <a:p>
            <a:pPr algn="l">
              <a:spcAft>
                <a:spcPts val="400"/>
              </a:spcAft>
            </a:pPr>
            <a:r>
              <a:rPr sz="1400" b="0" i="0">
                <a:solidFill>
                  <a:srgbClr val="566475"/>
                </a:solidFill>
                <a:latin typeface="Calibri"/>
              </a:rPr>
              <a:t>Sends a normal, legitimate question</a:t>
            </a:r>
          </a:p>
        </p:txBody>
      </p:sp>
      <p:sp>
        <p:nvSpPr>
          <p:cNvPr id="5" name="TextBox 4"/>
          <p:cNvSpPr txBox="1"/>
          <p:nvPr/>
        </p:nvSpPr>
        <p:spPr>
          <a:xfrm>
            <a:off x="3429000" y="1737360"/>
            <a:ext cx="50292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3977640" y="1371600"/>
            <a:ext cx="3566160" cy="114300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AI service agent</a:t>
            </a:r>
          </a:p>
          <a:p>
            <a:pPr algn="l">
              <a:spcAft>
                <a:spcPts val="400"/>
              </a:spcAft>
            </a:pPr>
            <a:r>
              <a:rPr sz="1400" b="0" i="0">
                <a:solidFill>
                  <a:srgbClr val="3B4A59"/>
                </a:solidFill>
                <a:latin typeface="Calibri"/>
              </a:rPr>
              <a:t>Searches company documents, then an LLM writes the reply</a:t>
            </a:r>
          </a:p>
        </p:txBody>
      </p:sp>
      <p:sp>
        <p:nvSpPr>
          <p:cNvPr id="7" name="TextBox 6"/>
          <p:cNvSpPr txBox="1"/>
          <p:nvPr/>
        </p:nvSpPr>
        <p:spPr>
          <a:xfrm>
            <a:off x="7589520" y="1737360"/>
            <a:ext cx="50292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8138160" y="1371600"/>
            <a:ext cx="2651760" cy="11430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800" b="1" i="0">
                <a:solidFill>
                  <a:srgbClr val="14212E"/>
                </a:solidFill>
                <a:latin typeface="Calibri"/>
              </a:rPr>
              <a:t>Visible output</a:t>
            </a:r>
          </a:p>
          <a:p>
            <a:pPr algn="l">
              <a:spcAft>
                <a:spcPts val="400"/>
              </a:spcAft>
            </a:pPr>
            <a:r>
              <a:rPr sz="1400" b="0" i="0">
                <a:solidFill>
                  <a:srgbClr val="566475"/>
                </a:solidFill>
                <a:latin typeface="Calibri"/>
              </a:rPr>
              <a:t>Reply text, decision fields, response time</a:t>
            </a:r>
          </a:p>
        </p:txBody>
      </p:sp>
      <p:sp>
        <p:nvSpPr>
          <p:cNvPr id="9" name="TextBox 8"/>
          <p:cNvSpPr txBox="1"/>
          <p:nvPr/>
        </p:nvSpPr>
        <p:spPr>
          <a:xfrm>
            <a:off x="3931920" y="2542032"/>
            <a:ext cx="3566160" cy="274320"/>
          </a:xfrm>
          <a:prstGeom prst="rect">
            <a:avLst/>
          </a:prstGeom>
          <a:noFill/>
        </p:spPr>
        <p:txBody>
          <a:bodyPr wrap="square" lIns="0" rIns="0" tIns="0" bIns="0" anchor="t">
            <a:spAutoFit/>
          </a:bodyPr>
          <a:lstStyle/>
          <a:p>
            <a:pPr algn="ctr">
              <a:spcAft>
                <a:spcPts val="400"/>
              </a:spcAft>
            </a:pPr>
            <a:r>
              <a:rPr sz="1400" b="1" i="0">
                <a:solidFill>
                  <a:srgbClr val="C2410C"/>
                </a:solidFill>
                <a:latin typeface="Calibri"/>
              </a:rPr>
              <a:t>↑ read by the agent</a:t>
            </a:r>
          </a:p>
        </p:txBody>
      </p:sp>
      <p:sp>
        <p:nvSpPr>
          <p:cNvPr id="10" name="Rounded Rectangle 9"/>
          <p:cNvSpPr/>
          <p:nvPr/>
        </p:nvSpPr>
        <p:spPr>
          <a:xfrm>
            <a:off x="3977640" y="2788920"/>
            <a:ext cx="3566160" cy="685800"/>
          </a:xfrm>
          <a:prstGeom prst="roundRect">
            <a:avLst>
              <a:gd name="adj" fmla="val 6000"/>
            </a:avLst>
          </a:prstGeom>
          <a:solidFill>
            <a:srgbClr val="FDEEE4"/>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400" b="1" i="0">
                <a:solidFill>
                  <a:srgbClr val="14212E"/>
                </a:solidFill>
                <a:latin typeface="Calibri"/>
              </a:rPr>
              <a:t>Confidential documents </a:t>
            </a:r>
            <a:r>
              <a:rPr sz="1400" b="0" i="0">
                <a:solidFill>
                  <a:srgbClr val="14212E"/>
                </a:solidFill>
                <a:latin typeface="Calibri"/>
              </a:rPr>
              <a:t>(merger plans, layoffs, legal settlements)</a:t>
            </a:r>
          </a:p>
        </p:txBody>
      </p:sp>
      <p:sp>
        <p:nvSpPr>
          <p:cNvPr id="11" name="Rounded Rectangle 10"/>
          <p:cNvSpPr/>
          <p:nvPr/>
        </p:nvSpPr>
        <p:spPr>
          <a:xfrm>
            <a:off x="731520" y="3749039"/>
            <a:ext cx="5212080"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C2410C"/>
                </a:solidFill>
                <a:latin typeface="Calibri"/>
              </a:rPr>
              <a:t>Direct leakage</a:t>
            </a:r>
          </a:p>
          <a:p>
            <a:pPr algn="l">
              <a:spcAft>
                <a:spcPts val="400"/>
              </a:spcAft>
            </a:pPr>
            <a:r>
              <a:rPr sz="1600" b="0" i="0">
                <a:solidFill>
                  <a:srgbClr val="14212E"/>
                </a:solidFill>
                <a:latin typeface="Calibri"/>
              </a:rPr>
              <a:t>The reply contains the secret: “The board votes on the 24th.”</a:t>
            </a:r>
          </a:p>
        </p:txBody>
      </p:sp>
      <p:sp>
        <p:nvSpPr>
          <p:cNvPr id="12" name="Rounded Rectangle 11"/>
          <p:cNvSpPr/>
          <p:nvPr/>
        </p:nvSpPr>
        <p:spPr>
          <a:xfrm>
            <a:off x="6172200" y="3749039"/>
            <a:ext cx="5285232"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2000" b="1" i="0">
                <a:solidFill>
                  <a:srgbClr val="2B5C8F"/>
                </a:solidFill>
                <a:latin typeface="Calibri"/>
              </a:rPr>
              <a:t>Side-channel leakage</a:t>
            </a:r>
          </a:p>
          <a:p>
            <a:pPr algn="l">
              <a:spcAft>
                <a:spcPts val="400"/>
              </a:spcAft>
            </a:pPr>
            <a:r>
              <a:rPr sz="1600" b="0" i="0">
                <a:solidFill>
                  <a:srgbClr val="14212E"/>
                </a:solidFill>
                <a:latin typeface="Calibri"/>
              </a:rPr>
              <a:t>The reply never states the secret, but its tone, refusals, routing or timing reveal that a confidential document exists.</a:t>
            </a:r>
          </a:p>
        </p:txBody>
      </p:sp>
      <p:sp>
        <p:nvSpPr>
          <p:cNvPr id="13" name="Rounded Rectangle 12"/>
          <p:cNvSpPr/>
          <p:nvPr/>
        </p:nvSpPr>
        <p:spPr>
          <a:xfrm>
            <a:off x="731520" y="5257800"/>
            <a:ext cx="10725912" cy="8686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800" b="1" i="0">
                <a:solidFill>
                  <a:srgbClr val="F08A63"/>
                </a:solidFill>
                <a:latin typeface="Calibri"/>
              </a:rPr>
              <a:t>Research question: </a:t>
            </a:r>
            <a:r>
              <a:rPr sz="1800" b="0" i="0">
                <a:solidFill>
                  <a:srgbClr val="EEF2F6"/>
                </a:solidFill>
                <a:latin typeface="Calibri"/>
              </a:rPr>
              <a:t>From legitimate messages only, can an observer tell whether the agent holds confidential documents on a topic?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Background: ACL modes, and what is new here</a:t>
            </a:r>
          </a:p>
        </p:txBody>
      </p:sp>
      <p:sp>
        <p:nvSpPr>
          <p:cNvPr id="4" name="Rounded Rectangle 3"/>
          <p:cNvSpPr/>
          <p:nvPr/>
        </p:nvSpPr>
        <p:spPr>
          <a:xfrm>
            <a:off x="731520" y="1280160"/>
            <a:ext cx="342290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800" b="1" i="0">
                <a:solidFill>
                  <a:srgbClr val="17724F"/>
                </a:solidFill>
                <a:latin typeface="Calibri"/>
              </a:rPr>
              <a:t>public</a:t>
            </a:r>
          </a:p>
          <a:p>
            <a:pPr algn="l">
              <a:spcAft>
                <a:spcPts val="200"/>
              </a:spcAft>
            </a:pPr>
            <a:r>
              <a:rPr sz="1400" b="0" i="0">
                <a:solidFill>
                  <a:srgbClr val="566475"/>
                </a:solidFill>
                <a:latin typeface="Calibri"/>
              </a:rPr>
              <a:t>Example: press release, FAQ</a:t>
            </a:r>
          </a:p>
        </p:txBody>
      </p:sp>
      <p:sp>
        <p:nvSpPr>
          <p:cNvPr id="5" name="Rounded Rectangle 4"/>
          <p:cNvSpPr/>
          <p:nvPr/>
        </p:nvSpPr>
        <p:spPr>
          <a:xfrm>
            <a:off x="4383024" y="1280160"/>
            <a:ext cx="342290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800" b="1" i="0">
                <a:solidFill>
                  <a:srgbClr val="2B5C8F"/>
                </a:solidFill>
                <a:latin typeface="Calibri"/>
              </a:rPr>
              <a:t>internal</a:t>
            </a:r>
          </a:p>
          <a:p>
            <a:pPr algn="l">
              <a:spcAft>
                <a:spcPts val="200"/>
              </a:spcAft>
            </a:pPr>
            <a:r>
              <a:rPr sz="1400" b="0" i="0">
                <a:solidFill>
                  <a:srgbClr val="566475"/>
                </a:solidFill>
                <a:latin typeface="Calibri"/>
              </a:rPr>
              <a:t>Example: billing procedure, vacation policy</a:t>
            </a:r>
          </a:p>
        </p:txBody>
      </p:sp>
      <p:sp>
        <p:nvSpPr>
          <p:cNvPr id="6" name="Rounded Rectangle 5"/>
          <p:cNvSpPr/>
          <p:nvPr/>
        </p:nvSpPr>
        <p:spPr>
          <a:xfrm>
            <a:off x="8034528" y="1280160"/>
            <a:ext cx="3422904"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800" b="1" i="0">
                <a:solidFill>
                  <a:srgbClr val="C2410C"/>
                </a:solidFill>
                <a:latin typeface="Calibri"/>
              </a:rPr>
              <a:t>confidential</a:t>
            </a:r>
          </a:p>
          <a:p>
            <a:pPr algn="l">
              <a:spcAft>
                <a:spcPts val="200"/>
              </a:spcAft>
            </a:pPr>
            <a:r>
              <a:rPr sz="1400" b="0" i="0">
                <a:solidFill>
                  <a:srgbClr val="566475"/>
                </a:solidFill>
                <a:latin typeface="Calibri"/>
              </a:rPr>
              <a:t>Example: “Project Falcon merger, board votes on the 24th”</a:t>
            </a:r>
          </a:p>
        </p:txBody>
      </p:sp>
      <p:sp>
        <p:nvSpPr>
          <p:cNvPr id="7" name="Rounded Rectangle 6"/>
          <p:cNvSpPr/>
          <p:nvPr/>
        </p:nvSpPr>
        <p:spPr>
          <a:xfrm>
            <a:off x="731520" y="2514600"/>
            <a:ext cx="5225796" cy="137160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300"/>
              </a:spcAft>
            </a:pPr>
            <a:r>
              <a:rPr sz="1800" b="1" i="0">
                <a:solidFill>
                  <a:srgbClr val="C2410C"/>
                </a:solidFill>
                <a:latin typeface="Calibri"/>
              </a:rPr>
              <a:t>M1 · weak ACL</a:t>
            </a:r>
          </a:p>
          <a:p>
            <a:pPr algn="l">
              <a:spcAft>
                <a:spcPts val="300"/>
              </a:spcAft>
            </a:pPr>
            <a:r>
              <a:rPr sz="1400" b="0" i="0">
                <a:solidFill>
                  <a:srgbClr val="14212E"/>
                </a:solidFill>
                <a:latin typeface="Calibri"/>
              </a:rPr>
              <a:t>Search returns all labels; only the prompt says “do not reveal”. The model still reads the secret. Direct questions leaked 16/20 (gemma3), 13/20 (qwen2.5).</a:t>
            </a:r>
          </a:p>
        </p:txBody>
      </p:sp>
      <p:sp>
        <p:nvSpPr>
          <p:cNvPr id="8" name="Rounded Rectangle 7"/>
          <p:cNvSpPr/>
          <p:nvPr/>
        </p:nvSpPr>
        <p:spPr>
          <a:xfrm>
            <a:off x="6231636" y="2514600"/>
            <a:ext cx="5225796" cy="137160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300"/>
              </a:spcAft>
            </a:pPr>
            <a:r>
              <a:rPr sz="1800" b="1" i="0">
                <a:solidFill>
                  <a:srgbClr val="17724F"/>
                </a:solidFill>
                <a:latin typeface="Calibri"/>
              </a:rPr>
              <a:t>M2 · strong ACL</a:t>
            </a:r>
          </a:p>
          <a:p>
            <a:pPr algn="l">
              <a:spcAft>
                <a:spcPts val="300"/>
              </a:spcAft>
            </a:pPr>
            <a:r>
              <a:rPr sz="1400" b="0" i="0">
                <a:solidFill>
                  <a:srgbClr val="14212E"/>
                </a:solidFill>
                <a:latin typeface="Calibri"/>
              </a:rPr>
              <a:t>Confidential documents are filtered at search time; the model never sees them. Direct questions leaked 0/20.</a:t>
            </a:r>
          </a:p>
        </p:txBody>
      </p:sp>
      <p:sp>
        <p:nvSpPr>
          <p:cNvPr id="9" name="TextBox 8"/>
          <p:cNvSpPr txBox="1"/>
          <p:nvPr/>
        </p:nvSpPr>
        <p:spPr>
          <a:xfrm>
            <a:off x="731520" y="4069080"/>
            <a:ext cx="10725912" cy="685800"/>
          </a:xfrm>
          <a:prstGeom prst="rect">
            <a:avLst/>
          </a:prstGeom>
          <a:noFill/>
        </p:spPr>
        <p:txBody>
          <a:bodyPr wrap="square" lIns="0" rIns="0" tIns="0" bIns="0" anchor="t">
            <a:spAutoFit/>
          </a:bodyPr>
          <a:lstStyle/>
          <a:p>
            <a:pPr algn="l">
              <a:spcAft>
                <a:spcPts val="400"/>
              </a:spcAft>
            </a:pPr>
            <a:r>
              <a:rPr sz="1400" b="0" i="0">
                <a:solidFill>
                  <a:srgbClr val="3B4A59"/>
                </a:solidFill>
                <a:latin typeface="Calibri"/>
              </a:rPr>
              <a:t>Related work attacks the network layer (token lengths, timing, packet sizes: Weiss ’24, Carlini &amp; Nasr ’24, Whisper Leak ’25) or queries RAG with crafted or injected prompts (Anderson ’24, Zeng ’24, Qi ’25). We differ:</a:t>
            </a:r>
          </a:p>
        </p:txBody>
      </p:sp>
      <p:sp>
        <p:nvSpPr>
          <p:cNvPr id="10" name="Rounded Rectangle 9"/>
          <p:cNvSpPr/>
          <p:nvPr/>
        </p:nvSpPr>
        <p:spPr>
          <a:xfrm>
            <a:off x="731520" y="4754880"/>
            <a:ext cx="3422904"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300"/>
              </a:spcAft>
            </a:pPr>
            <a:r>
              <a:rPr sz="1600" b="1" i="0">
                <a:solidFill>
                  <a:srgbClr val="14212E"/>
                </a:solidFill>
                <a:latin typeface="Calibri"/>
              </a:rPr>
              <a:t>Application-layer channel</a:t>
            </a:r>
          </a:p>
          <a:p>
            <a:pPr algn="l">
              <a:spcAft>
                <a:spcPts val="300"/>
              </a:spcAft>
            </a:pPr>
            <a:r>
              <a:rPr sz="1400" b="0" i="0">
                <a:solidFill>
                  <a:srgbClr val="14212E"/>
                </a:solidFill>
                <a:latin typeface="Calibri"/>
              </a:rPr>
              <a:t>The observer is the customer reading replies, not a network eavesdropper.</a:t>
            </a:r>
          </a:p>
        </p:txBody>
      </p:sp>
      <p:sp>
        <p:nvSpPr>
          <p:cNvPr id="11" name="Rounded Rectangle 10"/>
          <p:cNvSpPr/>
          <p:nvPr/>
        </p:nvSpPr>
        <p:spPr>
          <a:xfrm>
            <a:off x="4383024" y="4754880"/>
            <a:ext cx="3422904"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300"/>
              </a:spcAft>
            </a:pPr>
            <a:r>
              <a:rPr sz="1600" b="1" i="0">
                <a:solidFill>
                  <a:srgbClr val="14212E"/>
                </a:solidFill>
                <a:latin typeface="Calibri"/>
              </a:rPr>
              <a:t>No attack needed</a:t>
            </a:r>
          </a:p>
          <a:p>
            <a:pPr algn="l">
              <a:spcAft>
                <a:spcPts val="300"/>
              </a:spcAft>
            </a:pPr>
            <a:r>
              <a:rPr sz="1400" b="0" i="0">
                <a:solidFill>
                  <a:srgbClr val="14212E"/>
                </a:solidFill>
                <a:latin typeface="Calibri"/>
              </a:rPr>
              <a:t>Legitimate messages only: every customer is a potential observer.</a:t>
            </a:r>
          </a:p>
        </p:txBody>
      </p:sp>
      <p:sp>
        <p:nvSpPr>
          <p:cNvPr id="12" name="Rounded Rectangle 11"/>
          <p:cNvSpPr/>
          <p:nvPr/>
        </p:nvSpPr>
        <p:spPr>
          <a:xfrm>
            <a:off x="8034528" y="4754880"/>
            <a:ext cx="3422904" cy="1371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300"/>
              </a:spcAft>
            </a:pPr>
            <a:r>
              <a:rPr sz="1600" b="1" i="0">
                <a:solidFill>
                  <a:srgbClr val="14212E"/>
                </a:solidFill>
                <a:latin typeface="Calibri"/>
              </a:rPr>
              <a:t>Leak → defense → utility</a:t>
            </a:r>
          </a:p>
          <a:p>
            <a:pPr algn="l">
              <a:spcAft>
                <a:spcPts val="300"/>
              </a:spcAft>
            </a:pPr>
            <a:r>
              <a:rPr sz="1400" b="0" i="0">
                <a:solidFill>
                  <a:srgbClr val="14212E"/>
                </a:solidFill>
                <a:latin typeface="Calibri"/>
              </a:rPr>
              <a:t>Controlled statistics, then defenses scored on security and usefulness.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Design: agent, ACL modes and probe vs control</a:t>
            </a:r>
          </a:p>
        </p:txBody>
      </p:sp>
      <p:sp>
        <p:nvSpPr>
          <p:cNvPr id="4" name="Rounded Rectangle 3"/>
          <p:cNvSpPr/>
          <p:nvPr/>
        </p:nvSpPr>
        <p:spPr>
          <a:xfrm>
            <a:off x="731520" y="1325880"/>
            <a:ext cx="1645920" cy="141732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500" b="1" i="0">
                <a:solidFill>
                  <a:srgbClr val="14212E"/>
                </a:solidFill>
                <a:latin typeface="Calibri"/>
              </a:rPr>
              <a:t>1 Customer message</a:t>
            </a:r>
          </a:p>
          <a:p>
            <a:pPr algn="l">
              <a:spcAft>
                <a:spcPts val="200"/>
              </a:spcAft>
            </a:pPr>
            <a:r>
              <a:rPr sz="1400" b="0" i="0">
                <a:solidFill>
                  <a:srgbClr val="3B4A59"/>
                </a:solidFill>
                <a:latin typeface="Calibri"/>
              </a:rPr>
              <a:t>legitimate question</a:t>
            </a:r>
          </a:p>
        </p:txBody>
      </p:sp>
      <p:sp>
        <p:nvSpPr>
          <p:cNvPr id="5" name="TextBox 4"/>
          <p:cNvSpPr txBox="1"/>
          <p:nvPr/>
        </p:nvSpPr>
        <p:spPr>
          <a:xfrm>
            <a:off x="2359152" y="1783080"/>
            <a:ext cx="246888"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2615184" y="1325880"/>
            <a:ext cx="1828800" cy="141732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500" b="1" i="0">
                <a:solidFill>
                  <a:srgbClr val="14212E"/>
                </a:solidFill>
                <a:latin typeface="Calibri"/>
              </a:rPr>
              <a:t>2 Retrieval</a:t>
            </a:r>
          </a:p>
          <a:p>
            <a:pPr algn="l">
              <a:spcAft>
                <a:spcPts val="200"/>
              </a:spcAft>
            </a:pPr>
            <a:r>
              <a:rPr sz="1400" b="0" i="0">
                <a:solidFill>
                  <a:srgbClr val="3B4A59"/>
                </a:solidFill>
                <a:latin typeface="Calibri"/>
              </a:rPr>
              <a:t>top-5 chunks (ChromaDB)</a:t>
            </a:r>
          </a:p>
        </p:txBody>
      </p:sp>
      <p:sp>
        <p:nvSpPr>
          <p:cNvPr id="7" name="TextBox 6"/>
          <p:cNvSpPr txBox="1"/>
          <p:nvPr/>
        </p:nvSpPr>
        <p:spPr>
          <a:xfrm>
            <a:off x="4425696" y="1783080"/>
            <a:ext cx="246888"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4681728" y="1325880"/>
            <a:ext cx="2468880" cy="1417320"/>
          </a:xfrm>
          <a:prstGeom prst="roundRect">
            <a:avLst>
              <a:gd name="adj" fmla="val 6000"/>
            </a:avLst>
          </a:prstGeom>
          <a:solidFill>
            <a:srgbClr val="FFF4D6"/>
          </a:solidFill>
          <a:ln w="1587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500" b="1" i="0">
                <a:solidFill>
                  <a:srgbClr val="14212E"/>
                </a:solidFill>
                <a:latin typeface="Calibri"/>
              </a:rPr>
              <a:t>3 ACL mode</a:t>
            </a:r>
          </a:p>
          <a:p>
            <a:pPr algn="l">
              <a:spcAft>
                <a:spcPts val="200"/>
              </a:spcAft>
            </a:pPr>
            <a:r>
              <a:rPr sz="1400" b="1" i="0">
                <a:solidFill>
                  <a:srgbClr val="C2410C"/>
                </a:solidFill>
                <a:latin typeface="Calibri"/>
              </a:rPr>
              <a:t>M1: </a:t>
            </a:r>
            <a:r>
              <a:rPr sz="1400" b="0" i="0">
                <a:solidFill>
                  <a:srgbClr val="14212E"/>
                </a:solidFill>
                <a:latin typeface="Calibri"/>
              </a:rPr>
              <a:t>keep all labels</a:t>
            </a:r>
          </a:p>
          <a:p>
            <a:pPr algn="l">
              <a:spcAft>
                <a:spcPts val="200"/>
              </a:spcAft>
            </a:pPr>
            <a:r>
              <a:rPr sz="1400" b="1" i="0">
                <a:solidFill>
                  <a:srgbClr val="17724F"/>
                </a:solidFill>
                <a:latin typeface="Calibri"/>
              </a:rPr>
              <a:t>M2: </a:t>
            </a:r>
            <a:r>
              <a:rPr sz="1400" b="0" i="0">
                <a:solidFill>
                  <a:srgbClr val="14212E"/>
                </a:solidFill>
                <a:latin typeface="Calibri"/>
              </a:rPr>
              <a:t>drop confidential</a:t>
            </a:r>
          </a:p>
        </p:txBody>
      </p:sp>
      <p:sp>
        <p:nvSpPr>
          <p:cNvPr id="9" name="TextBox 8"/>
          <p:cNvSpPr txBox="1"/>
          <p:nvPr/>
        </p:nvSpPr>
        <p:spPr>
          <a:xfrm>
            <a:off x="7132320" y="1783080"/>
            <a:ext cx="246888"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0" name="Rounded Rectangle 9"/>
          <p:cNvSpPr/>
          <p:nvPr/>
        </p:nvSpPr>
        <p:spPr>
          <a:xfrm>
            <a:off x="7388352" y="1325880"/>
            <a:ext cx="1737360" cy="1417320"/>
          </a:xfrm>
          <a:prstGeom prst="roundRect">
            <a:avLst>
              <a:gd name="adj" fmla="val 6000"/>
            </a:avLst>
          </a:prstGeom>
          <a:solidFill>
            <a:srgbClr val="E6EFF8"/>
          </a:solidFill>
          <a:ln w="15875">
            <a:solidFill>
              <a:srgbClr val="2B5C8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500" b="1" i="0">
                <a:solidFill>
                  <a:srgbClr val="14212E"/>
                </a:solidFill>
                <a:latin typeface="Calibri"/>
              </a:rPr>
              <a:t>4 LLM</a:t>
            </a:r>
          </a:p>
          <a:p>
            <a:pPr algn="l">
              <a:spcAft>
                <a:spcPts val="200"/>
              </a:spcAft>
            </a:pPr>
            <a:r>
              <a:rPr sz="1400" b="0" i="0">
                <a:solidFill>
                  <a:srgbClr val="3B4A59"/>
                </a:solidFill>
                <a:latin typeface="Calibri"/>
              </a:rPr>
              <a:t>gemma3 / qwen2.5, temperature 0</a:t>
            </a:r>
          </a:p>
        </p:txBody>
      </p:sp>
      <p:sp>
        <p:nvSpPr>
          <p:cNvPr id="11" name="TextBox 10"/>
          <p:cNvSpPr txBox="1"/>
          <p:nvPr/>
        </p:nvSpPr>
        <p:spPr>
          <a:xfrm>
            <a:off x="9107424" y="1783080"/>
            <a:ext cx="246888"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12" name="Rounded Rectangle 11"/>
          <p:cNvSpPr/>
          <p:nvPr/>
        </p:nvSpPr>
        <p:spPr>
          <a:xfrm>
            <a:off x="9363456" y="1325880"/>
            <a:ext cx="1828800" cy="141732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500" b="1" i="0">
                <a:solidFill>
                  <a:srgbClr val="14212E"/>
                </a:solidFill>
                <a:latin typeface="Calibri"/>
              </a:rPr>
              <a:t>5 Decision + log</a:t>
            </a:r>
          </a:p>
          <a:p>
            <a:pPr algn="l">
              <a:spcAft>
                <a:spcPts val="200"/>
              </a:spcAft>
            </a:pPr>
            <a:r>
              <a:rPr sz="1400" b="0" i="0">
                <a:solidFill>
                  <a:srgbClr val="3B4A59"/>
                </a:solidFill>
                <a:latin typeface="Calibri"/>
              </a:rPr>
              <a:t>JSON, 4 fields</a:t>
            </a:r>
          </a:p>
        </p:txBody>
      </p:sp>
      <p:sp>
        <p:nvSpPr>
          <p:cNvPr id="13" name="Rounded Rectangle 12"/>
          <p:cNvSpPr/>
          <p:nvPr/>
        </p:nvSpPr>
        <p:spPr>
          <a:xfrm>
            <a:off x="731520" y="3017520"/>
            <a:ext cx="5225796" cy="16002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C2410C"/>
                </a:solidFill>
                <a:latin typeface="Calibri"/>
              </a:rPr>
              <a:t>Probe · touches the topic</a:t>
            </a:r>
          </a:p>
          <a:p>
            <a:pPr algn="l">
              <a:spcAft>
                <a:spcPts val="400"/>
              </a:spcAft>
            </a:pPr>
            <a:r>
              <a:rPr sz="1400" b="0" i="0">
                <a:solidFill>
                  <a:srgbClr val="14212E"/>
                </a:solidFill>
                <a:latin typeface="Calibri"/>
              </a:rPr>
              <a:t>“… mentioned that </a:t>
            </a:r>
            <a:r>
              <a:rPr sz="1400" b="1" i="0">
                <a:solidFill>
                  <a:srgbClr val="14212E"/>
                </a:solidFill>
                <a:latin typeface="Calibri"/>
              </a:rPr>
              <a:t>Project Falcon</a:t>
            </a:r>
            <a:r>
              <a:rPr sz="1400" b="0" i="0">
                <a:solidFill>
                  <a:srgbClr val="14212E"/>
                </a:solidFill>
                <a:latin typeface="Calibri"/>
              </a:rPr>
              <a:t> might change who handles our contract. How does this affect our service agreement?”</a:t>
            </a:r>
          </a:p>
        </p:txBody>
      </p:sp>
      <p:sp>
        <p:nvSpPr>
          <p:cNvPr id="14" name="Rounded Rectangle 13"/>
          <p:cNvSpPr/>
          <p:nvPr/>
        </p:nvSpPr>
        <p:spPr>
          <a:xfrm>
            <a:off x="6231636" y="3017520"/>
            <a:ext cx="5225796" cy="160020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400"/>
              </a:spcAft>
            </a:pPr>
            <a:r>
              <a:rPr sz="1600" b="1" i="0">
                <a:solidFill>
                  <a:srgbClr val="2B5C8F"/>
                </a:solidFill>
                <a:latin typeface="Calibri"/>
              </a:rPr>
              <a:t>Control · same shape, other topic</a:t>
            </a:r>
          </a:p>
          <a:p>
            <a:pPr algn="l">
              <a:spcAft>
                <a:spcPts val="400"/>
              </a:spcAft>
            </a:pPr>
            <a:r>
              <a:rPr sz="1400" b="0" i="0">
                <a:solidFill>
                  <a:srgbClr val="14212E"/>
                </a:solidFill>
                <a:latin typeface="Calibri"/>
              </a:rPr>
              <a:t>“… mentioned that the </a:t>
            </a:r>
            <a:r>
              <a:rPr sz="1400" b="1" i="0">
                <a:solidFill>
                  <a:srgbClr val="14212E"/>
                </a:solidFill>
                <a:latin typeface="Calibri"/>
              </a:rPr>
              <a:t>billing portal</a:t>
            </a:r>
            <a:r>
              <a:rPr sz="1400" b="0" i="0">
                <a:solidFill>
                  <a:srgbClr val="14212E"/>
                </a:solidFill>
                <a:latin typeface="Calibri"/>
              </a:rPr>
              <a:t> might change how invoices are sent. How does this affect our payment schedule?”</a:t>
            </a:r>
          </a:p>
        </p:txBody>
      </p:sp>
      <p:sp>
        <p:nvSpPr>
          <p:cNvPr id="15" name="Rounded Rectangle 14"/>
          <p:cNvSpPr/>
          <p:nvPr/>
        </p:nvSpPr>
        <p:spPr>
          <a:xfrm>
            <a:off x="731520" y="4846320"/>
            <a:ext cx="10725912" cy="128016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Data: </a:t>
            </a:r>
            <a:r>
              <a:rPr sz="1500" b="0" i="0">
                <a:solidFill>
                  <a:srgbClr val="14212E"/>
                </a:solidFill>
                <a:latin typeface="Calibri"/>
              </a:rPr>
              <a:t>2000 public Enron emails + 30 fabricated canary emails; 20 topics (10 with 3 confidential canaries, 10 without), so the ground truth is known.</a:t>
            </a:r>
          </a:p>
          <a:p>
            <a:pPr algn="l">
              <a:spcAft>
                <a:spcPts val="400"/>
              </a:spcAft>
            </a:pPr>
            <a:r>
              <a:rPr sz="1500" b="0" i="0">
                <a:solidFill>
                  <a:srgbClr val="14212E"/>
                </a:solidFill>
                <a:latin typeface="Calibri"/>
              </a:rPr>
              <a:t>800 calls = </a:t>
            </a:r>
            <a:r>
              <a:rPr sz="1500" b="1" i="0">
                <a:solidFill>
                  <a:srgbClr val="14212E"/>
                </a:solidFill>
                <a:latin typeface="Calibri"/>
              </a:rPr>
              <a:t>20 topics × 2 kinds × 5 variants × 2 ACL modes × 2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Findings: reply style gives the topic away</a:t>
            </a:r>
          </a:p>
        </p:txBody>
      </p:sp>
      <p:graphicFrame>
        <p:nvGraphicFramePr>
          <p:cNvPr id="4" name="Chart 3"/>
          <p:cNvGraphicFramePr>
            <a:graphicFrameLocks noGrp="1"/>
          </p:cNvGraphicFramePr>
          <p:nvPr/>
        </p:nvGraphicFramePr>
        <p:xfrm>
          <a:off x="731520" y="1280160"/>
          <a:ext cx="5943600" cy="3566160"/>
        </p:xfrm>
        <a:graphic>
          <a:graphicData uri="http://schemas.openxmlformats.org/drawingml/2006/chart">
            <c:chart xmlns:c="http://schemas.openxmlformats.org/drawingml/2006/chart" r:id="rId3"/>
          </a:graphicData>
        </a:graphic>
      </p:graphicFrame>
      <p:sp>
        <p:nvSpPr>
          <p:cNvPr id="5" name="TextBox 4"/>
          <p:cNvSpPr txBox="1"/>
          <p:nvPr/>
        </p:nvSpPr>
        <p:spPr>
          <a:xfrm>
            <a:off x="731520" y="4873752"/>
            <a:ext cx="59436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AUC = chance that a topic with a secret outranks one without; 0.5 = coin flip. Red = open, green = closed.</a:t>
            </a:r>
          </a:p>
        </p:txBody>
      </p:sp>
      <p:graphicFrame>
        <p:nvGraphicFramePr>
          <p:cNvPr id="6" name="Table 5"/>
          <p:cNvGraphicFramePr>
            <a:graphicFrameLocks noGrp="1"/>
          </p:cNvGraphicFramePr>
          <p:nvPr/>
        </p:nvGraphicFramePr>
        <p:xfrm>
          <a:off x="6903720" y="1325880"/>
          <a:ext cx="4553712" cy="2057400"/>
        </p:xfrm>
        <a:graphic>
          <a:graphicData uri="http://schemas.openxmlformats.org/drawingml/2006/table">
            <a:tbl>
              <a:tblPr firstRow="0" bandRow="0">
                <a:tableStyleId>{5C22544A-7EE6-4342-B048-85BDC9FD1C3A}</a:tableStyleId>
              </a:tblPr>
              <a:tblGrid>
                <a:gridCol w="2377440"/>
                <a:gridCol w="1097280"/>
                <a:gridCol w="1078992"/>
              </a:tblGrid>
              <a:tr h="411480">
                <a:tc>
                  <a:txBody>
                    <a:bodyPr wrap="square"/>
                    <a:lstStyle/>
                    <a:p>
                      <a:pPr algn="l"/>
                      <a:r>
                        <a:rPr sz="1300" b="1">
                          <a:solidFill>
                            <a:srgbClr val="14212E"/>
                          </a:solidFill>
                          <a:latin typeface="Calibri"/>
                        </a:rPr>
                        <a:t>Style marker (gemma3, M1)</a:t>
                      </a:r>
                    </a:p>
                  </a:txBody>
                  <a:tcPr marL="91440" marR="91440" marT="45720" marB="45720" anchor="ctr">
                    <a:solidFill>
                      <a:srgbClr val="E4E9EE"/>
                    </a:solidFill>
                  </a:tcPr>
                </a:tc>
                <a:tc>
                  <a:txBody>
                    <a:bodyPr wrap="square"/>
                    <a:lstStyle/>
                    <a:p>
                      <a:pPr algn="r"/>
                      <a:r>
                        <a:rPr sz="1300" b="1">
                          <a:solidFill>
                            <a:srgbClr val="14212E"/>
                          </a:solidFill>
                          <a:latin typeface="Calibri"/>
                        </a:rPr>
                        <a:t>Secret</a:t>
                      </a:r>
                    </a:p>
                  </a:txBody>
                  <a:tcPr marL="91440" marR="91440" marT="45720" marB="45720" anchor="ctr">
                    <a:solidFill>
                      <a:srgbClr val="E4E9EE"/>
                    </a:solidFill>
                  </a:tcPr>
                </a:tc>
                <a:tc>
                  <a:txBody>
                    <a:bodyPr wrap="square"/>
                    <a:lstStyle/>
                    <a:p>
                      <a:pPr algn="r"/>
                      <a:r>
                        <a:rPr sz="1300" b="1">
                          <a:solidFill>
                            <a:srgbClr val="14212E"/>
                          </a:solidFill>
                          <a:latin typeface="Calibri"/>
                        </a:rPr>
                        <a:t>No secret</a:t>
                      </a:r>
                    </a:p>
                  </a:txBody>
                  <a:tcPr marL="91440" marR="91440" marT="45720" marB="45720" anchor="ctr">
                    <a:solidFill>
                      <a:srgbClr val="E4E9EE"/>
                    </a:solidFill>
                  </a:tcPr>
                </a:tc>
              </a:tr>
              <a:tr h="411480">
                <a:tc>
                  <a:txBody>
                    <a:bodyPr wrap="square"/>
                    <a:lstStyle/>
                    <a:p>
                      <a:pPr algn="l"/>
                      <a:r>
                        <a:rPr sz="1300" b="0">
                          <a:solidFill>
                            <a:srgbClr val="14212E"/>
                          </a:solidFill>
                          <a:latin typeface="Calibri"/>
                        </a:rPr>
                        <a:t>“we / our” rate</a:t>
                      </a:r>
                    </a:p>
                  </a:txBody>
                  <a:tcPr marL="91440" marR="91440" marT="45720" marB="45720" anchor="ctr">
                    <a:solidFill>
                      <a:srgbClr val="FFFFFF"/>
                    </a:solidFill>
                  </a:tcPr>
                </a:tc>
                <a:tc>
                  <a:txBody>
                    <a:bodyPr wrap="square"/>
                    <a:lstStyle/>
                    <a:p>
                      <a:pPr algn="r"/>
                      <a:r>
                        <a:rPr sz="1300" b="0">
                          <a:solidFill>
                            <a:srgbClr val="14212E"/>
                          </a:solidFill>
                          <a:latin typeface="Calibri"/>
                        </a:rPr>
                        <a:t>0.050</a:t>
                      </a:r>
                    </a:p>
                  </a:txBody>
                  <a:tcPr marL="91440" marR="91440" marT="45720" marB="45720" anchor="ctr">
                    <a:solidFill>
                      <a:srgbClr val="FFFFFF"/>
                    </a:solidFill>
                  </a:tcPr>
                </a:tc>
                <a:tc>
                  <a:txBody>
                    <a:bodyPr wrap="square"/>
                    <a:lstStyle/>
                    <a:p>
                      <a:pPr algn="r"/>
                      <a:r>
                        <a:rPr sz="1300" b="0">
                          <a:solidFill>
                            <a:srgbClr val="14212E"/>
                          </a:solidFill>
                          <a:latin typeface="Calibri"/>
                        </a:rPr>
                        <a:t>0.017</a:t>
                      </a:r>
                    </a:p>
                  </a:txBody>
                  <a:tcPr marL="91440" marR="91440" marT="45720" marB="45720" anchor="ctr">
                    <a:solidFill>
                      <a:srgbClr val="FFFFFF"/>
                    </a:solidFill>
                  </a:tcPr>
                </a:tc>
              </a:tr>
              <a:tr h="411480">
                <a:tc>
                  <a:txBody>
                    <a:bodyPr wrap="square"/>
                    <a:lstStyle/>
                    <a:p>
                      <a:pPr algn="l"/>
                      <a:r>
                        <a:rPr sz="1300" b="0">
                          <a:solidFill>
                            <a:srgbClr val="14212E"/>
                          </a:solidFill>
                          <a:latin typeface="Calibri"/>
                        </a:rPr>
                        <a:t>“I” rate</a:t>
                      </a:r>
                    </a:p>
                  </a:txBody>
                  <a:tcPr marL="91440" marR="91440" marT="45720" marB="45720" anchor="ctr">
                    <a:solidFill>
                      <a:srgbClr val="FFFFFF"/>
                    </a:solidFill>
                  </a:tcPr>
                </a:tc>
                <a:tc>
                  <a:txBody>
                    <a:bodyPr wrap="square"/>
                    <a:lstStyle/>
                    <a:p>
                      <a:pPr algn="r"/>
                      <a:r>
                        <a:rPr sz="1300" b="0">
                          <a:solidFill>
                            <a:srgbClr val="14212E"/>
                          </a:solidFill>
                          <a:latin typeface="Calibri"/>
                        </a:rPr>
                        <a:t>0.009</a:t>
                      </a:r>
                    </a:p>
                  </a:txBody>
                  <a:tcPr marL="91440" marR="91440" marT="45720" marB="45720" anchor="ctr">
                    <a:solidFill>
                      <a:srgbClr val="FFFFFF"/>
                    </a:solidFill>
                  </a:tcPr>
                </a:tc>
                <a:tc>
                  <a:txBody>
                    <a:bodyPr wrap="square"/>
                    <a:lstStyle/>
                    <a:p>
                      <a:pPr algn="r"/>
                      <a:r>
                        <a:rPr sz="1300" b="0">
                          <a:solidFill>
                            <a:srgbClr val="14212E"/>
                          </a:solidFill>
                          <a:latin typeface="Calibri"/>
                        </a:rPr>
                        <a:t>0.032</a:t>
                      </a:r>
                    </a:p>
                  </a:txBody>
                  <a:tcPr marL="91440" marR="91440" marT="45720" marB="45720" anchor="ctr">
                    <a:solidFill>
                      <a:srgbClr val="FFFFFF"/>
                    </a:solidFill>
                  </a:tcPr>
                </a:tc>
              </a:tr>
              <a:tr h="411480">
                <a:tc>
                  <a:txBody>
                    <a:bodyPr wrap="square"/>
                    <a:lstStyle/>
                    <a:p>
                      <a:pPr algn="l"/>
                      <a:r>
                        <a:rPr sz="1300" b="0">
                          <a:solidFill>
                            <a:srgbClr val="14212E"/>
                          </a:solidFill>
                          <a:latin typeface="Calibri"/>
                        </a:rPr>
                        <a:t>“unfortunately”</a:t>
                      </a:r>
                    </a:p>
                  </a:txBody>
                  <a:tcPr marL="91440" marR="91440" marT="45720" marB="45720" anchor="ctr">
                    <a:solidFill>
                      <a:srgbClr val="FFFFFF"/>
                    </a:solidFill>
                  </a:tcPr>
                </a:tc>
                <a:tc>
                  <a:txBody>
                    <a:bodyPr wrap="square"/>
                    <a:lstStyle/>
                    <a:p>
                      <a:pPr algn="r"/>
                      <a:r>
                        <a:rPr sz="1300" b="0">
                          <a:solidFill>
                            <a:srgbClr val="14212E"/>
                          </a:solidFill>
                          <a:latin typeface="Calibri"/>
                        </a:rPr>
                        <a:t>0.00</a:t>
                      </a:r>
                    </a:p>
                  </a:txBody>
                  <a:tcPr marL="91440" marR="91440" marT="45720" marB="45720" anchor="ctr">
                    <a:solidFill>
                      <a:srgbClr val="FFFFFF"/>
                    </a:solidFill>
                  </a:tcPr>
                </a:tc>
                <a:tc>
                  <a:txBody>
                    <a:bodyPr wrap="square"/>
                    <a:lstStyle/>
                    <a:p>
                      <a:pPr algn="r"/>
                      <a:r>
                        <a:rPr sz="1300" b="0">
                          <a:solidFill>
                            <a:srgbClr val="14212E"/>
                          </a:solidFill>
                          <a:latin typeface="Calibri"/>
                        </a:rPr>
                        <a:t>0.14</a:t>
                      </a:r>
                    </a:p>
                  </a:txBody>
                  <a:tcPr marL="91440" marR="91440" marT="45720" marB="45720" anchor="ctr">
                    <a:solidFill>
                      <a:srgbClr val="FFFFFF"/>
                    </a:solidFill>
                  </a:tcPr>
                </a:tc>
              </a:tr>
              <a:tr h="411480">
                <a:tc>
                  <a:txBody>
                    <a:bodyPr wrap="square"/>
                    <a:lstStyle/>
                    <a:p>
                      <a:pPr algn="l"/>
                      <a:r>
                        <a:rPr sz="1300" b="0">
                          <a:solidFill>
                            <a:srgbClr val="14212E"/>
                          </a:solidFill>
                          <a:latin typeface="Calibri"/>
                        </a:rPr>
                        <a:t>gives phone / email</a:t>
                      </a:r>
                    </a:p>
                  </a:txBody>
                  <a:tcPr marL="91440" marR="91440" marT="45720" marB="45720" anchor="ctr">
                    <a:solidFill>
                      <a:srgbClr val="FFFFFF"/>
                    </a:solidFill>
                  </a:tcPr>
                </a:tc>
                <a:tc>
                  <a:txBody>
                    <a:bodyPr wrap="square"/>
                    <a:lstStyle/>
                    <a:p>
                      <a:pPr algn="r"/>
                      <a:r>
                        <a:rPr sz="1300" b="0">
                          <a:solidFill>
                            <a:srgbClr val="14212E"/>
                          </a:solidFill>
                          <a:latin typeface="Calibri"/>
                        </a:rPr>
                        <a:t>0.06</a:t>
                      </a:r>
                    </a:p>
                  </a:txBody>
                  <a:tcPr marL="91440" marR="91440" marT="45720" marB="45720" anchor="ctr">
                    <a:solidFill>
                      <a:srgbClr val="FFFFFF"/>
                    </a:solidFill>
                  </a:tcPr>
                </a:tc>
                <a:tc>
                  <a:txBody>
                    <a:bodyPr wrap="square"/>
                    <a:lstStyle/>
                    <a:p>
                      <a:pPr algn="r"/>
                      <a:r>
                        <a:rPr sz="1300" b="0">
                          <a:solidFill>
                            <a:srgbClr val="14212E"/>
                          </a:solidFill>
                          <a:latin typeface="Calibri"/>
                        </a:rPr>
                        <a:t>0.24</a:t>
                      </a:r>
                    </a:p>
                  </a:txBody>
                  <a:tcPr marL="91440" marR="91440" marT="45720" marB="45720" anchor="ctr">
                    <a:solidFill>
                      <a:srgbClr val="FFFFFF"/>
                    </a:solidFill>
                  </a:tcPr>
                </a:tc>
              </a:tr>
            </a:tbl>
          </a:graphicData>
        </a:graphic>
      </p:graphicFrame>
      <p:sp>
        <p:nvSpPr>
          <p:cNvPr id="7" name="Rounded Rectangle 6"/>
          <p:cNvSpPr/>
          <p:nvPr/>
        </p:nvSpPr>
        <p:spPr>
          <a:xfrm>
            <a:off x="6903720" y="3520440"/>
            <a:ext cx="4553712" cy="132588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400" b="1" i="0">
                <a:solidFill>
                  <a:srgbClr val="14212E"/>
                </a:solidFill>
                <a:latin typeface="Calibri"/>
              </a:rPr>
              <a:t>The tone leaks, not the content. </a:t>
            </a:r>
            <a:r>
              <a:rPr sz="1400" b="0" i="0">
                <a:solidFill>
                  <a:srgbClr val="14212E"/>
                </a:solidFill>
                <a:latin typeface="Calibri"/>
              </a:rPr>
              <a:t>Masking topic words, numbers, names and 210 secret-only words left AUC unchanged (0.83 → 0.82).</a:t>
            </a:r>
          </a:p>
        </p:txBody>
      </p:sp>
      <p:sp>
        <p:nvSpPr>
          <p:cNvPr id="8" name="Rounded Rectangle 7"/>
          <p:cNvSpPr/>
          <p:nvPr/>
        </p:nvSpPr>
        <p:spPr>
          <a:xfrm>
            <a:off x="731520" y="5349240"/>
            <a:ext cx="10725912" cy="77724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Behavior fields </a:t>
            </a:r>
            <a:r>
              <a:rPr sz="1500" b="0" i="0">
                <a:solidFill>
                  <a:srgbClr val="14212E"/>
                </a:solidFill>
                <a:latin typeface="Calibri"/>
              </a:rPr>
              <a:t>(escalation, refusal, routing) show no significant signal; the agent rarely escalates or refuses. Under M2 nothing leaks.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Masking: keep the document, hide the details</a:t>
            </a:r>
          </a:p>
        </p:txBody>
      </p:sp>
      <p:sp>
        <p:nvSpPr>
          <p:cNvPr id="4" name="Rounded Rectangle 3"/>
          <p:cNvSpPr/>
          <p:nvPr/>
        </p:nvSpPr>
        <p:spPr>
          <a:xfrm>
            <a:off x="731520" y="1325880"/>
            <a:ext cx="2926080" cy="868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Search (M1)</a:t>
            </a:r>
          </a:p>
          <a:p>
            <a:pPr algn="l">
              <a:spcAft>
                <a:spcPts val="200"/>
              </a:spcAft>
            </a:pPr>
            <a:r>
              <a:rPr sz="1400" b="0" i="0">
                <a:solidFill>
                  <a:srgbClr val="566475"/>
                </a:solidFill>
                <a:latin typeface="Calibri"/>
              </a:rPr>
              <a:t>top-5, confidential included</a:t>
            </a:r>
          </a:p>
        </p:txBody>
      </p:sp>
      <p:sp>
        <p:nvSpPr>
          <p:cNvPr id="5" name="TextBox 4"/>
          <p:cNvSpPr txBox="1"/>
          <p:nvPr/>
        </p:nvSpPr>
        <p:spPr>
          <a:xfrm>
            <a:off x="3657600" y="1508760"/>
            <a:ext cx="41148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6" name="Rounded Rectangle 5"/>
          <p:cNvSpPr/>
          <p:nvPr/>
        </p:nvSpPr>
        <p:spPr>
          <a:xfrm>
            <a:off x="4069080" y="1325880"/>
            <a:ext cx="3566160" cy="868680"/>
          </a:xfrm>
          <a:prstGeom prst="roundRect">
            <a:avLst>
              <a:gd name="adj" fmla="val 6000"/>
            </a:avLst>
          </a:prstGeom>
          <a:solidFill>
            <a:srgbClr val="FFF4D6"/>
          </a:solidFill>
          <a:ln w="15875">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Confidential chunk?</a:t>
            </a:r>
          </a:p>
          <a:p>
            <a:pPr algn="l">
              <a:spcAft>
                <a:spcPts val="200"/>
              </a:spcAft>
            </a:pPr>
            <a:r>
              <a:rPr sz="1400" b="0" i="0">
                <a:solidFill>
                  <a:srgbClr val="566475"/>
                </a:solidFill>
                <a:latin typeface="Calibri"/>
              </a:rPr>
              <a:t>yes → mask · no → keep</a:t>
            </a:r>
          </a:p>
        </p:txBody>
      </p:sp>
      <p:sp>
        <p:nvSpPr>
          <p:cNvPr id="7" name="TextBox 6"/>
          <p:cNvSpPr txBox="1"/>
          <p:nvPr/>
        </p:nvSpPr>
        <p:spPr>
          <a:xfrm>
            <a:off x="7635240" y="1508760"/>
            <a:ext cx="411480" cy="457200"/>
          </a:xfrm>
          <a:prstGeom prst="rect">
            <a:avLst/>
          </a:prstGeom>
          <a:noFill/>
        </p:spPr>
        <p:txBody>
          <a:bodyPr wrap="square" lIns="0" rIns="0" tIns="0" bIns="0" anchor="ctr">
            <a:spAutoFit/>
          </a:bodyPr>
          <a:lstStyle/>
          <a:p>
            <a:pPr algn="ctr">
              <a:spcAft>
                <a:spcPts val="400"/>
              </a:spcAft>
            </a:pPr>
            <a:r>
              <a:rPr sz="2800" b="1" i="0">
                <a:solidFill>
                  <a:srgbClr val="566475"/>
                </a:solidFill>
                <a:latin typeface="Calibri"/>
              </a:rPr>
              <a:t>→</a:t>
            </a:r>
          </a:p>
        </p:txBody>
      </p:sp>
      <p:sp>
        <p:nvSpPr>
          <p:cNvPr id="8" name="Rounded Rectangle 7"/>
          <p:cNvSpPr/>
          <p:nvPr/>
        </p:nvSpPr>
        <p:spPr>
          <a:xfrm>
            <a:off x="8046720" y="1325880"/>
            <a:ext cx="2926080" cy="868680"/>
          </a:xfrm>
          <a:prstGeom prst="roundRect">
            <a:avLst>
              <a:gd name="adj" fmla="val 6000"/>
            </a:avLst>
          </a:prstGeom>
          <a:solidFill>
            <a:srgbClr val="FFFFFF"/>
          </a:solidFill>
          <a:ln w="15875">
            <a:solidFill>
              <a:srgbClr val="CBD5DF"/>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200"/>
              </a:spcAft>
            </a:pPr>
            <a:r>
              <a:rPr sz="1600" b="1" i="0">
                <a:solidFill>
                  <a:srgbClr val="14212E"/>
                </a:solidFill>
                <a:latin typeface="Calibri"/>
              </a:rPr>
              <a:t>LLM</a:t>
            </a:r>
          </a:p>
          <a:p>
            <a:pPr algn="l">
              <a:spcAft>
                <a:spcPts val="200"/>
              </a:spcAft>
            </a:pPr>
            <a:r>
              <a:rPr sz="1400" b="0" i="0">
                <a:solidFill>
                  <a:srgbClr val="566475"/>
                </a:solidFill>
                <a:latin typeface="Calibri"/>
              </a:rPr>
              <a:t>sees masked text</a:t>
            </a:r>
          </a:p>
        </p:txBody>
      </p:sp>
      <p:sp>
        <p:nvSpPr>
          <p:cNvPr id="9" name="Rounded Rectangle 8"/>
          <p:cNvSpPr/>
          <p:nvPr/>
        </p:nvSpPr>
        <p:spPr>
          <a:xfrm>
            <a:off x="731520" y="2377440"/>
            <a:ext cx="10725912" cy="1005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300" b="0" i="0">
                <a:solidFill>
                  <a:srgbClr val="3B4A59"/>
                </a:solidFill>
                <a:latin typeface="Consolas"/>
              </a:rPr>
              <a:t>original: “… merger with Veltrix Holdings … board meets on the 24th.”</a:t>
            </a:r>
          </a:p>
          <a:p>
            <a:pPr algn="l">
              <a:spcAft>
                <a:spcPts val="200"/>
              </a:spcAft>
            </a:pPr>
            <a:r>
              <a:rPr sz="1300" b="0" i="0">
                <a:solidFill>
                  <a:srgbClr val="3B4A59"/>
                </a:solidFill>
                <a:latin typeface="Consolas"/>
              </a:rPr>
              <a:t>oracle:   “… merger with Veltrix Holdings … board meets on the [REDACTED].”</a:t>
            </a:r>
          </a:p>
          <a:p>
            <a:pPr algn="l">
              <a:spcAft>
                <a:spcPts val="200"/>
              </a:spcAft>
            </a:pPr>
            <a:r>
              <a:rPr sz="1300" b="0" i="0">
                <a:solidFill>
                  <a:srgbClr val="3B4A59"/>
                </a:solidFill>
                <a:latin typeface="Consolas"/>
              </a:rPr>
              <a:t>rule:     “… merger with [NAME] [NAME] … board meets on the [DATE].”</a:t>
            </a:r>
          </a:p>
        </p:txBody>
      </p:sp>
      <p:graphicFrame>
        <p:nvGraphicFramePr>
          <p:cNvPr id="10" name="Table 9"/>
          <p:cNvGraphicFramePr>
            <a:graphicFrameLocks noGrp="1"/>
          </p:cNvGraphicFramePr>
          <p:nvPr/>
        </p:nvGraphicFramePr>
        <p:xfrm>
          <a:off x="731520" y="3566160"/>
          <a:ext cx="10725912" cy="1920240"/>
        </p:xfrm>
        <a:graphic>
          <a:graphicData uri="http://schemas.openxmlformats.org/drawingml/2006/table">
            <a:tbl>
              <a:tblPr firstRow="0" bandRow="0">
                <a:tableStyleId>{5C22544A-7EE6-4342-B048-85BDC9FD1C3A}</a:tableStyleId>
              </a:tblPr>
              <a:tblGrid>
                <a:gridCol w="2743200"/>
                <a:gridCol w="1828800"/>
                <a:gridCol w="2194560"/>
                <a:gridCol w="1828800"/>
                <a:gridCol w="2130552"/>
              </a:tblGrid>
              <a:tr h="384048">
                <a:tc>
                  <a:txBody>
                    <a:bodyPr wrap="square"/>
                    <a:lstStyle/>
                    <a:p>
                      <a:pPr algn="l"/>
                      <a:r>
                        <a:rPr sz="1500" b="1">
                          <a:solidFill>
                            <a:srgbClr val="14212E"/>
                          </a:solidFill>
                          <a:latin typeface="Calibri"/>
                        </a:rPr>
                        <a:t>gemma3</a:t>
                      </a:r>
                    </a:p>
                  </a:txBody>
                  <a:tcPr marL="91440" marR="91440" marT="45720" marB="45720" anchor="ctr">
                    <a:solidFill>
                      <a:srgbClr val="E4E9EE"/>
                    </a:solidFill>
                  </a:tcPr>
                </a:tc>
                <a:tc>
                  <a:txBody>
                    <a:bodyPr wrap="square"/>
                    <a:lstStyle/>
                    <a:p>
                      <a:pPr algn="r"/>
                      <a:r>
                        <a:rPr sz="1500" b="1">
                          <a:solidFill>
                            <a:srgbClr val="14212E"/>
                          </a:solidFill>
                          <a:latin typeface="Calibri"/>
                        </a:rPr>
                        <a:t>Text AUC</a:t>
                      </a:r>
                    </a:p>
                  </a:txBody>
                  <a:tcPr marL="91440" marR="91440" marT="45720" marB="45720" anchor="ctr">
                    <a:solidFill>
                      <a:srgbClr val="E4E9EE"/>
                    </a:solidFill>
                  </a:tcPr>
                </a:tc>
                <a:tc>
                  <a:txBody>
                    <a:bodyPr wrap="square"/>
                    <a:lstStyle/>
                    <a:p>
                      <a:pPr algn="r"/>
                      <a:r>
                        <a:rPr sz="1500" b="1">
                          <a:solidFill>
                            <a:srgbClr val="14212E"/>
                          </a:solidFill>
                          <a:latin typeface="Calibri"/>
                        </a:rPr>
                        <a:t>Direct leakage</a:t>
                      </a:r>
                    </a:p>
                  </a:txBody>
                  <a:tcPr marL="91440" marR="91440" marT="45720" marB="45720" anchor="ctr">
                    <a:solidFill>
                      <a:srgbClr val="E4E9EE"/>
                    </a:solidFill>
                  </a:tcPr>
                </a:tc>
                <a:tc>
                  <a:txBody>
                    <a:bodyPr wrap="square"/>
                    <a:lstStyle/>
                    <a:p>
                      <a:pPr algn="r"/>
                      <a:r>
                        <a:rPr sz="1500" b="1">
                          <a:solidFill>
                            <a:srgbClr val="14212E"/>
                          </a:solidFill>
                          <a:latin typeface="Calibri"/>
                        </a:rPr>
                        <a:t>Resolution</a:t>
                      </a:r>
                    </a:p>
                  </a:txBody>
                  <a:tcPr marL="91440" marR="91440" marT="45720" marB="45720" anchor="ctr">
                    <a:solidFill>
                      <a:srgbClr val="E4E9EE"/>
                    </a:solidFill>
                  </a:tcPr>
                </a:tc>
                <a:tc>
                  <a:txBody>
                    <a:bodyPr wrap="square"/>
                    <a:lstStyle/>
                    <a:p>
                      <a:pPr algn="r"/>
                      <a:r>
                        <a:rPr sz="1500" b="1">
                          <a:solidFill>
                            <a:srgbClr val="14212E"/>
                          </a:solidFill>
                          <a:latin typeface="Calibri"/>
                        </a:rPr>
                        <a:t>Approved line</a:t>
                      </a:r>
                    </a:p>
                  </a:txBody>
                  <a:tcPr marL="91440" marR="91440" marT="45720" marB="45720" anchor="ctr">
                    <a:solidFill>
                      <a:srgbClr val="E4E9EE"/>
                    </a:solidFill>
                  </a:tcPr>
                </a:tc>
              </a:tr>
              <a:tr h="384048">
                <a:tc>
                  <a:txBody>
                    <a:bodyPr wrap="square"/>
                    <a:lstStyle/>
                    <a:p>
                      <a:pPr algn="l"/>
                      <a:r>
                        <a:rPr sz="1500" b="0">
                          <a:solidFill>
                            <a:srgbClr val="14212E"/>
                          </a:solidFill>
                          <a:latin typeface="Calibri"/>
                        </a:rPr>
                        <a:t>M1 (none)</a:t>
                      </a:r>
                    </a:p>
                  </a:txBody>
                  <a:tcPr marL="91440" marR="91440" marT="45720" marB="45720" anchor="ctr">
                    <a:solidFill>
                      <a:srgbClr val="FFFFFF"/>
                    </a:solidFill>
                  </a:tcPr>
                </a:tc>
                <a:tc>
                  <a:txBody>
                    <a:bodyPr wrap="square"/>
                    <a:lstStyle/>
                    <a:p>
                      <a:pPr algn="r"/>
                      <a:r>
                        <a:rPr sz="1500" b="1">
                          <a:solidFill>
                            <a:srgbClr val="C2410C"/>
                          </a:solidFill>
                          <a:latin typeface="Calibri"/>
                        </a:rPr>
                        <a:t>0.82</a:t>
                      </a:r>
                    </a:p>
                  </a:txBody>
                  <a:tcPr marL="91440" marR="91440" marT="45720" marB="45720" anchor="ctr">
                    <a:solidFill>
                      <a:srgbClr val="FFFFFF"/>
                    </a:solidFill>
                  </a:tcPr>
                </a:tc>
                <a:tc>
                  <a:txBody>
                    <a:bodyPr wrap="square"/>
                    <a:lstStyle/>
                    <a:p>
                      <a:pPr algn="r"/>
                      <a:r>
                        <a:rPr sz="1500" b="1">
                          <a:solidFill>
                            <a:srgbClr val="C2410C"/>
                          </a:solidFill>
                          <a:latin typeface="Calibri"/>
                        </a:rPr>
                        <a:t>0.50</a:t>
                      </a:r>
                    </a:p>
                  </a:txBody>
                  <a:tcPr marL="91440" marR="91440" marT="45720" marB="45720" anchor="ctr">
                    <a:solidFill>
                      <a:srgbClr val="FFFFFF"/>
                    </a:solidFill>
                  </a:tcPr>
                </a:tc>
                <a:tc>
                  <a:txBody>
                    <a:bodyPr wrap="square"/>
                    <a:lstStyle/>
                    <a:p>
                      <a:pPr algn="r"/>
                      <a:r>
                        <a:rPr sz="1500" b="0">
                          <a:solidFill>
                            <a:srgbClr val="14212E"/>
                          </a:solidFill>
                          <a:latin typeface="Calibri"/>
                        </a:rPr>
                        <a:t>0.92</a:t>
                      </a:r>
                    </a:p>
                  </a:txBody>
                  <a:tcPr marL="91440" marR="91440" marT="45720" marB="45720" anchor="ctr">
                    <a:solidFill>
                      <a:srgbClr val="FFFFFF"/>
                    </a:solidFill>
                  </a:tcPr>
                </a:tc>
                <a:tc>
                  <a:txBody>
                    <a:bodyPr wrap="square"/>
                    <a:lstStyle/>
                    <a:p>
                      <a:pPr algn="r"/>
                      <a:r>
                        <a:rPr sz="1500" b="0">
                          <a:solidFill>
                            <a:srgbClr val="14212E"/>
                          </a:solidFill>
                          <a:latin typeface="Calibri"/>
                        </a:rPr>
                        <a:t>0.33</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M2</a:t>
                      </a:r>
                    </a:p>
                  </a:txBody>
                  <a:tcPr marL="91440" marR="91440" marT="45720" marB="45720" anchor="ctr">
                    <a:solidFill>
                      <a:srgbClr val="FFFFFF"/>
                    </a:solidFill>
                  </a:tcPr>
                </a:tc>
                <a:tc>
                  <a:txBody>
                    <a:bodyPr wrap="square"/>
                    <a:lstStyle/>
                    <a:p>
                      <a:pPr algn="r"/>
                      <a:r>
                        <a:rPr sz="1500" b="1">
                          <a:solidFill>
                            <a:srgbClr val="17724F"/>
                          </a:solidFill>
                          <a:latin typeface="Calibri"/>
                        </a:rPr>
                        <a:t>0.45</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1">
                          <a:solidFill>
                            <a:srgbClr val="C2410C"/>
                          </a:solidFill>
                          <a:latin typeface="Calibri"/>
                        </a:rPr>
                        <a:t>0.67</a:t>
                      </a:r>
                    </a:p>
                  </a:txBody>
                  <a:tcPr marL="91440" marR="91440" marT="45720" marB="45720" anchor="ctr">
                    <a:solidFill>
                      <a:srgbClr val="FFFFFF"/>
                    </a:solidFill>
                  </a:tcPr>
                </a:tc>
                <a:tc>
                  <a:txBody>
                    <a:bodyPr wrap="square"/>
                    <a:lstStyle/>
                    <a:p>
                      <a:pPr algn="r"/>
                      <a:r>
                        <a:rPr sz="1500" b="1">
                          <a:solidFill>
                            <a:srgbClr val="C2410C"/>
                          </a:solidFill>
                          <a:latin typeface="Calibri"/>
                        </a:rPr>
                        <a:t>0.00</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mask · oracle</a:t>
                      </a:r>
                    </a:p>
                  </a:txBody>
                  <a:tcPr marL="91440" marR="91440" marT="45720" marB="45720" anchor="ctr">
                    <a:solidFill>
                      <a:srgbClr val="FFFFFF"/>
                    </a:solidFill>
                  </a:tcPr>
                </a:tc>
                <a:tc>
                  <a:txBody>
                    <a:bodyPr wrap="square"/>
                    <a:lstStyle/>
                    <a:p>
                      <a:pPr algn="r"/>
                      <a:r>
                        <a:rPr sz="1500" b="1">
                          <a:solidFill>
                            <a:srgbClr val="C2410C"/>
                          </a:solidFill>
                          <a:latin typeface="Calibri"/>
                        </a:rPr>
                        <a:t>0.84</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0">
                          <a:solidFill>
                            <a:srgbClr val="14212E"/>
                          </a:solidFill>
                          <a:latin typeface="Calibri"/>
                        </a:rPr>
                        <a:t>0.90</a:t>
                      </a:r>
                    </a:p>
                  </a:txBody>
                  <a:tcPr marL="91440" marR="91440" marT="45720" marB="45720" anchor="ctr">
                    <a:solidFill>
                      <a:srgbClr val="FFFFFF"/>
                    </a:solidFill>
                  </a:tcPr>
                </a:tc>
                <a:tc>
                  <a:txBody>
                    <a:bodyPr wrap="square"/>
                    <a:lstStyle/>
                    <a:p>
                      <a:pPr algn="r"/>
                      <a:r>
                        <a:rPr sz="1500" b="0">
                          <a:solidFill>
                            <a:srgbClr val="14212E"/>
                          </a:solidFill>
                          <a:latin typeface="Calibri"/>
                        </a:rPr>
                        <a:t>0.33</a:t>
                      </a:r>
                    </a:p>
                  </a:txBody>
                  <a:tcPr marL="91440" marR="91440" marT="45720" marB="45720" anchor="ctr">
                    <a:solidFill>
                      <a:srgbClr val="FFFFFF"/>
                    </a:solidFill>
                  </a:tcPr>
                </a:tc>
              </a:tr>
              <a:tr h="384048">
                <a:tc>
                  <a:txBody>
                    <a:bodyPr wrap="square"/>
                    <a:lstStyle/>
                    <a:p>
                      <a:pPr algn="l"/>
                      <a:r>
                        <a:rPr sz="1500" b="0">
                          <a:solidFill>
                            <a:srgbClr val="14212E"/>
                          </a:solidFill>
                          <a:latin typeface="Calibri"/>
                        </a:rPr>
                        <a:t>mask · rule</a:t>
                      </a:r>
                    </a:p>
                  </a:txBody>
                  <a:tcPr marL="91440" marR="91440" marT="45720" marB="45720" anchor="ctr">
                    <a:solidFill>
                      <a:srgbClr val="FFFFFF"/>
                    </a:solidFill>
                  </a:tcPr>
                </a:tc>
                <a:tc>
                  <a:txBody>
                    <a:bodyPr wrap="square"/>
                    <a:lstStyle/>
                    <a:p>
                      <a:pPr algn="r"/>
                      <a:r>
                        <a:rPr sz="1500" b="1">
                          <a:solidFill>
                            <a:srgbClr val="C2410C"/>
                          </a:solidFill>
                          <a:latin typeface="Calibri"/>
                        </a:rPr>
                        <a:t>0.69</a:t>
                      </a:r>
                    </a:p>
                  </a:txBody>
                  <a:tcPr marL="91440" marR="91440" marT="45720" marB="45720" anchor="ctr">
                    <a:solidFill>
                      <a:srgbClr val="FFFFFF"/>
                    </a:solidFill>
                  </a:tcPr>
                </a:tc>
                <a:tc>
                  <a:txBody>
                    <a:bodyPr wrap="square"/>
                    <a:lstStyle/>
                    <a:p>
                      <a:pPr algn="r"/>
                      <a:r>
                        <a:rPr sz="1500" b="1">
                          <a:solidFill>
                            <a:srgbClr val="17724F"/>
                          </a:solidFill>
                          <a:latin typeface="Calibri"/>
                        </a:rPr>
                        <a:t>0.00</a:t>
                      </a:r>
                    </a:p>
                  </a:txBody>
                  <a:tcPr marL="91440" marR="91440" marT="45720" marB="45720" anchor="ctr">
                    <a:solidFill>
                      <a:srgbClr val="FFFFFF"/>
                    </a:solidFill>
                  </a:tcPr>
                </a:tc>
                <a:tc>
                  <a:txBody>
                    <a:bodyPr wrap="square"/>
                    <a:lstStyle/>
                    <a:p>
                      <a:pPr algn="r"/>
                      <a:r>
                        <a:rPr sz="1500" b="0">
                          <a:solidFill>
                            <a:srgbClr val="14212E"/>
                          </a:solidFill>
                          <a:latin typeface="Calibri"/>
                        </a:rPr>
                        <a:t>0.92</a:t>
                      </a:r>
                    </a:p>
                  </a:txBody>
                  <a:tcPr marL="91440" marR="91440" marT="45720" marB="45720" anchor="ctr">
                    <a:solidFill>
                      <a:srgbClr val="FFFFFF"/>
                    </a:solidFill>
                  </a:tcPr>
                </a:tc>
                <a:tc>
                  <a:txBody>
                    <a:bodyPr wrap="square"/>
                    <a:lstStyle/>
                    <a:p>
                      <a:pPr algn="r"/>
                      <a:r>
                        <a:rPr sz="1500" b="0">
                          <a:solidFill>
                            <a:srgbClr val="14212E"/>
                          </a:solidFill>
                          <a:latin typeface="Calibri"/>
                        </a:rPr>
                        <a:t>0.39</a:t>
                      </a:r>
                    </a:p>
                  </a:txBody>
                  <a:tcPr marL="91440" marR="91440" marT="45720" marB="45720" anchor="ctr">
                    <a:solidFill>
                      <a:srgbClr val="FFFFFF"/>
                    </a:solidFill>
                  </a:tcPr>
                </a:tc>
              </a:tr>
            </a:tbl>
          </a:graphicData>
        </a:graphic>
      </p:graphicFrame>
      <p:sp>
        <p:nvSpPr>
          <p:cNvPr id="11" name="Rounded Rectangle 10"/>
          <p:cNvSpPr/>
          <p:nvPr/>
        </p:nvSpPr>
        <p:spPr>
          <a:xfrm>
            <a:off x="731520" y="5577840"/>
            <a:ext cx="10725912" cy="685800"/>
          </a:xfrm>
          <a:prstGeom prst="roundRect">
            <a:avLst>
              <a:gd name="adj" fmla="val 6000"/>
            </a:avLst>
          </a:prstGeom>
          <a:solidFill>
            <a:srgbClr val="E6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400" b="1" i="0">
                <a:solidFill>
                  <a:srgbClr val="14212E"/>
                </a:solidFill>
                <a:latin typeface="Calibri"/>
              </a:rPr>
              <a:t>Content leakage closed, utility kept; the topic’s existence still leaks. </a:t>
            </a:r>
            <a:r>
              <a:rPr sz="1400" b="0" i="0">
                <a:solidFill>
                  <a:srgbClr val="14212E"/>
                </a:solidFill>
                <a:latin typeface="Calibri"/>
              </a:rPr>
              <a:t>“Approved line” = the agent says the officially approved sentence, e.g. “we do not comment on rumours”.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Defenses: security and utility measured together</a:t>
            </a:r>
          </a:p>
        </p:txBody>
      </p:sp>
      <p:graphicFrame>
        <p:nvGraphicFramePr>
          <p:cNvPr id="4" name="Table 3"/>
          <p:cNvGraphicFramePr>
            <a:graphicFrameLocks noGrp="1"/>
          </p:cNvGraphicFramePr>
          <p:nvPr/>
        </p:nvGraphicFramePr>
        <p:xfrm>
          <a:off x="731520" y="1280160"/>
          <a:ext cx="10725912" cy="2944368"/>
        </p:xfrm>
        <a:graphic>
          <a:graphicData uri="http://schemas.openxmlformats.org/drawingml/2006/table">
            <a:tbl>
              <a:tblPr firstRow="0" bandRow="0">
                <a:tableStyleId>{5C22544A-7EE6-4342-B048-85BDC9FD1C3A}</a:tableStyleId>
              </a:tblPr>
              <a:tblGrid>
                <a:gridCol w="3291840"/>
                <a:gridCol w="1463040"/>
                <a:gridCol w="2011680"/>
                <a:gridCol w="3959352"/>
              </a:tblGrid>
              <a:tr h="420624">
                <a:tc>
                  <a:txBody>
                    <a:bodyPr wrap="square"/>
                    <a:lstStyle/>
                    <a:p>
                      <a:pPr algn="l"/>
                      <a:r>
                        <a:rPr sz="1400" b="1">
                          <a:solidFill>
                            <a:srgbClr val="14212E"/>
                          </a:solidFill>
                          <a:latin typeface="Calibri"/>
                        </a:rPr>
                        <a:t>Defense (gemma3)</a:t>
                      </a:r>
                    </a:p>
                  </a:txBody>
                  <a:tcPr marL="91440" marR="91440" marT="45720" marB="45720" anchor="ctr">
                    <a:solidFill>
                      <a:srgbClr val="E4E9EE"/>
                    </a:solidFill>
                  </a:tcPr>
                </a:tc>
                <a:tc>
                  <a:txBody>
                    <a:bodyPr wrap="square"/>
                    <a:lstStyle/>
                    <a:p>
                      <a:pPr algn="r"/>
                      <a:r>
                        <a:rPr sz="1400" b="1">
                          <a:solidFill>
                            <a:srgbClr val="14212E"/>
                          </a:solidFill>
                          <a:latin typeface="Calibri"/>
                        </a:rPr>
                        <a:t>Text AUC</a:t>
                      </a:r>
                    </a:p>
                  </a:txBody>
                  <a:tcPr marL="91440" marR="91440" marT="45720" marB="45720" anchor="ctr">
                    <a:solidFill>
                      <a:srgbClr val="E4E9EE"/>
                    </a:solidFill>
                  </a:tcPr>
                </a:tc>
                <a:tc>
                  <a:txBody>
                    <a:bodyPr wrap="square"/>
                    <a:lstStyle/>
                    <a:p>
                      <a:pPr algn="r"/>
                      <a:r>
                        <a:rPr sz="1400" b="1">
                          <a:solidFill>
                            <a:srgbClr val="14212E"/>
                          </a:solidFill>
                          <a:latin typeface="Calibri"/>
                        </a:rPr>
                        <a:t>Direct leakage</a:t>
                      </a:r>
                    </a:p>
                  </a:txBody>
                  <a:tcPr marL="91440" marR="91440" marT="45720" marB="45720" anchor="ctr">
                    <a:solidFill>
                      <a:srgbClr val="E4E9EE"/>
                    </a:solidFill>
                  </a:tcPr>
                </a:tc>
                <a:tc>
                  <a:txBody>
                    <a:bodyPr wrap="square"/>
                    <a:lstStyle/>
                    <a:p>
                      <a:pPr algn="l"/>
                      <a:r>
                        <a:rPr sz="1400" b="1">
                          <a:solidFill>
                            <a:srgbClr val="14212E"/>
                          </a:solidFill>
                          <a:latin typeface="Calibri"/>
                        </a:rPr>
                        <a:t>Utility cost</a:t>
                      </a:r>
                    </a:p>
                  </a:txBody>
                  <a:tcPr marL="91440" marR="91440" marT="45720" marB="45720" anchor="ctr">
                    <a:solidFill>
                      <a:srgbClr val="E4E9EE"/>
                    </a:solidFill>
                  </a:tcPr>
                </a:tc>
              </a:tr>
              <a:tr h="420624">
                <a:tc>
                  <a:txBody>
                    <a:bodyPr wrap="square"/>
                    <a:lstStyle/>
                    <a:p>
                      <a:pPr algn="l"/>
                      <a:r>
                        <a:rPr sz="1400" b="0">
                          <a:solidFill>
                            <a:srgbClr val="14212E"/>
                          </a:solidFill>
                          <a:latin typeface="Calibri"/>
                        </a:rPr>
                        <a:t>none (weak ACL, M1)</a:t>
                      </a:r>
                    </a:p>
                  </a:txBody>
                  <a:tcPr marL="91440" marR="91440" marT="45720" marB="45720" anchor="ctr">
                    <a:solidFill>
                      <a:srgbClr val="FFFFFF"/>
                    </a:solidFill>
                  </a:tcPr>
                </a:tc>
                <a:tc>
                  <a:txBody>
                    <a:bodyPr wrap="square"/>
                    <a:lstStyle/>
                    <a:p>
                      <a:pPr algn="r"/>
                      <a:r>
                        <a:rPr sz="1400" b="1">
                          <a:solidFill>
                            <a:srgbClr val="C2410C"/>
                          </a:solidFill>
                          <a:latin typeface="Calibri"/>
                        </a:rPr>
                        <a:t>0.82</a:t>
                      </a:r>
                    </a:p>
                  </a:txBody>
                  <a:tcPr marL="91440" marR="91440" marT="45720" marB="45720" anchor="ctr">
                    <a:solidFill>
                      <a:srgbClr val="FFFFFF"/>
                    </a:solidFill>
                  </a:tcPr>
                </a:tc>
                <a:tc>
                  <a:txBody>
                    <a:bodyPr wrap="square"/>
                    <a:lstStyle/>
                    <a:p>
                      <a:pPr algn="r"/>
                      <a:r>
                        <a:rPr sz="1400" b="1">
                          <a:solidFill>
                            <a:srgbClr val="C2410C"/>
                          </a:solidFill>
                          <a:latin typeface="Calibri"/>
                        </a:rPr>
                        <a:t>0.50</a:t>
                      </a:r>
                    </a:p>
                  </a:txBody>
                  <a:tcPr marL="91440" marR="91440" marT="45720" marB="45720" anchor="ctr">
                    <a:solidFill>
                      <a:srgbClr val="FFFFFF"/>
                    </a:solidFill>
                  </a:tcPr>
                </a:tc>
                <a:tc>
                  <a:txBody>
                    <a:bodyPr wrap="square"/>
                    <a:lstStyle/>
                    <a:p>
                      <a:pPr algn="l"/>
                      <a:r>
                        <a:rPr sz="1400" b="0">
                          <a:solidFill>
                            <a:srgbClr val="14212E"/>
                          </a:solidFill>
                          <a:latin typeface="Calibri"/>
                        </a:rPr>
                        <a:t>–</a:t>
                      </a:r>
                    </a:p>
                  </a:txBody>
                  <a:tcPr marL="91440" marR="91440" marT="45720" marB="45720" anchor="ctr">
                    <a:solidFill>
                      <a:srgbClr val="FFFFFF"/>
                    </a:solidFill>
                  </a:tcPr>
                </a:tc>
              </a:tr>
              <a:tr h="420624">
                <a:tc>
                  <a:txBody>
                    <a:bodyPr wrap="square"/>
                    <a:lstStyle/>
                    <a:p>
                      <a:pPr algn="l"/>
                      <a:r>
                        <a:rPr sz="1400" b="0">
                          <a:solidFill>
                            <a:srgbClr val="14212E"/>
                          </a:solidFill>
                          <a:latin typeface="Calibri"/>
                        </a:rPr>
                        <a:t>behavior_norm</a:t>
                      </a:r>
                    </a:p>
                  </a:txBody>
                  <a:tcPr marL="91440" marR="91440" marT="45720" marB="45720" anchor="ctr">
                    <a:solidFill>
                      <a:srgbClr val="FFFFFF"/>
                    </a:solidFill>
                  </a:tcPr>
                </a:tc>
                <a:tc>
                  <a:txBody>
                    <a:bodyPr wrap="square"/>
                    <a:lstStyle/>
                    <a:p>
                      <a:pPr algn="r"/>
                      <a:r>
                        <a:rPr sz="1400" b="1">
                          <a:solidFill>
                            <a:srgbClr val="C2410C"/>
                          </a:solidFill>
                          <a:latin typeface="Calibri"/>
                        </a:rPr>
                        <a:t>0.82</a:t>
                      </a:r>
                    </a:p>
                  </a:txBody>
                  <a:tcPr marL="91440" marR="91440" marT="45720" marB="45720" anchor="ctr">
                    <a:solidFill>
                      <a:srgbClr val="FFFFFF"/>
                    </a:solidFill>
                  </a:tcPr>
                </a:tc>
                <a:tc>
                  <a:txBody>
                    <a:bodyPr wrap="square"/>
                    <a:lstStyle/>
                    <a:p>
                      <a:pPr algn="r"/>
                      <a:r>
                        <a:rPr sz="1400" b="0">
                          <a:solidFill>
                            <a:srgbClr val="14212E"/>
                          </a:solidFill>
                          <a:latin typeface="Calibri"/>
                        </a:rPr>
                        <a:t>–</a:t>
                      </a:r>
                    </a:p>
                  </a:txBody>
                  <a:tcPr marL="91440" marR="91440" marT="45720" marB="45720" anchor="ctr">
                    <a:solidFill>
                      <a:srgbClr val="FFFFFF"/>
                    </a:solidFill>
                  </a:tcPr>
                </a:tc>
                <a:tc>
                  <a:txBody>
                    <a:bodyPr wrap="square"/>
                    <a:lstStyle/>
                    <a:p>
                      <a:pPr algn="l"/>
                      <a:r>
                        <a:rPr sz="1400" b="0">
                          <a:solidFill>
                            <a:srgbClr val="14212E"/>
                          </a:solidFill>
                          <a:latin typeface="Calibri"/>
                        </a:rPr>
                        <a:t>recall −0.04</a:t>
                      </a:r>
                    </a:p>
                  </a:txBody>
                  <a:tcPr marL="91440" marR="91440" marT="45720" marB="45720" anchor="ctr">
                    <a:solidFill>
                      <a:srgbClr val="FFFFFF"/>
                    </a:solidFill>
                  </a:tcPr>
                </a:tc>
              </a:tr>
              <a:tr h="420624">
                <a:tc>
                  <a:txBody>
                    <a:bodyPr wrap="square"/>
                    <a:lstStyle/>
                    <a:p>
                      <a:pPr algn="l"/>
                      <a:r>
                        <a:rPr sz="1400" b="0">
                          <a:solidFill>
                            <a:srgbClr val="14212E"/>
                          </a:solidFill>
                          <a:latin typeface="Calibri"/>
                        </a:rPr>
                        <a:t>decision_hiding</a:t>
                      </a:r>
                    </a:p>
                  </a:txBody>
                  <a:tcPr marL="91440" marR="91440" marT="45720" marB="45720" anchor="ctr">
                    <a:solidFill>
                      <a:srgbClr val="FFFFFF"/>
                    </a:solidFill>
                  </a:tcPr>
                </a:tc>
                <a:tc>
                  <a:txBody>
                    <a:bodyPr wrap="square"/>
                    <a:lstStyle/>
                    <a:p>
                      <a:pPr algn="r"/>
                      <a:r>
                        <a:rPr sz="1400" b="1">
                          <a:solidFill>
                            <a:srgbClr val="C2410C"/>
                          </a:solidFill>
                          <a:latin typeface="Calibri"/>
                        </a:rPr>
                        <a:t>0.82</a:t>
                      </a:r>
                    </a:p>
                  </a:txBody>
                  <a:tcPr marL="91440" marR="91440" marT="45720" marB="45720" anchor="ctr">
                    <a:solidFill>
                      <a:srgbClr val="FFFFFF"/>
                    </a:solidFill>
                  </a:tcPr>
                </a:tc>
                <a:tc>
                  <a:txBody>
                    <a:bodyPr wrap="square"/>
                    <a:lstStyle/>
                    <a:p>
                      <a:pPr algn="r"/>
                      <a:r>
                        <a:rPr sz="1400" b="0">
                          <a:solidFill>
                            <a:srgbClr val="14212E"/>
                          </a:solidFill>
                          <a:latin typeface="Calibri"/>
                        </a:rPr>
                        <a:t>–</a:t>
                      </a:r>
                    </a:p>
                  </a:txBody>
                  <a:tcPr marL="91440" marR="91440" marT="45720" marB="45720" anchor="ctr">
                    <a:solidFill>
                      <a:srgbClr val="FFFFFF"/>
                    </a:solidFill>
                  </a:tcPr>
                </a:tc>
                <a:tc>
                  <a:txBody>
                    <a:bodyPr wrap="square"/>
                    <a:lstStyle/>
                    <a:p>
                      <a:pPr algn="l"/>
                      <a:r>
                        <a:rPr sz="1400" b="0">
                          <a:solidFill>
                            <a:srgbClr val="14212E"/>
                          </a:solidFill>
                          <a:latin typeface="Calibri"/>
                        </a:rPr>
                        <a:t>routing agreement 0.61</a:t>
                      </a:r>
                    </a:p>
                  </a:txBody>
                  <a:tcPr marL="91440" marR="91440" marT="45720" marB="45720" anchor="ctr">
                    <a:solidFill>
                      <a:srgbClr val="FFFFFF"/>
                    </a:solidFill>
                  </a:tcPr>
                </a:tc>
              </a:tr>
              <a:tr h="420624">
                <a:tc>
                  <a:txBody>
                    <a:bodyPr wrap="square"/>
                    <a:lstStyle/>
                    <a:p>
                      <a:pPr algn="l"/>
                      <a:r>
                        <a:rPr sz="1400" b="0">
                          <a:solidFill>
                            <a:srgbClr val="14212E"/>
                          </a:solidFill>
                          <a:latin typeface="Calibri"/>
                        </a:rPr>
                        <a:t>scoped_context (public only)</a:t>
                      </a:r>
                    </a:p>
                  </a:txBody>
                  <a:tcPr marL="91440" marR="91440" marT="45720" marB="45720" anchor="ctr">
                    <a:solidFill>
                      <a:srgbClr val="FFFFFF"/>
                    </a:solidFill>
                  </a:tcPr>
                </a:tc>
                <a:tc>
                  <a:txBody>
                    <a:bodyPr wrap="square"/>
                    <a:lstStyle/>
                    <a:p>
                      <a:pPr algn="r"/>
                      <a:r>
                        <a:rPr sz="1400" b="1">
                          <a:solidFill>
                            <a:srgbClr val="17724F"/>
                          </a:solidFill>
                          <a:latin typeface="Calibri"/>
                        </a:rPr>
                        <a:t>0.44</a:t>
                      </a:r>
                    </a:p>
                  </a:txBody>
                  <a:tcPr marL="91440" marR="91440" marT="45720" marB="45720" anchor="ctr">
                    <a:solidFill>
                      <a:srgbClr val="FFFFFF"/>
                    </a:solidFill>
                  </a:tcPr>
                </a:tc>
                <a:tc>
                  <a:txBody>
                    <a:bodyPr wrap="square"/>
                    <a:lstStyle/>
                    <a:p>
                      <a:pPr algn="r"/>
                      <a:r>
                        <a:rPr sz="1400" b="0">
                          <a:solidFill>
                            <a:srgbClr val="14212E"/>
                          </a:solidFill>
                          <a:latin typeface="Calibri"/>
                        </a:rPr>
                        <a:t>–</a:t>
                      </a:r>
                    </a:p>
                  </a:txBody>
                  <a:tcPr marL="91440" marR="91440" marT="45720" marB="45720" anchor="ctr">
                    <a:solidFill>
                      <a:srgbClr val="FFFFFF"/>
                    </a:solidFill>
                  </a:tcPr>
                </a:tc>
                <a:tc>
                  <a:txBody>
                    <a:bodyPr wrap="square"/>
                    <a:lstStyle/>
                    <a:p>
                      <a:pPr algn="l"/>
                      <a:r>
                        <a:rPr sz="1400" b="1">
                          <a:solidFill>
                            <a:srgbClr val="C2410C"/>
                          </a:solidFill>
                          <a:latin typeface="Calibri"/>
                        </a:rPr>
                        <a:t>recall −0.30</a:t>
                      </a:r>
                    </a:p>
                  </a:txBody>
                  <a:tcPr marL="91440" marR="91440" marT="45720" marB="45720" anchor="ctr">
                    <a:solidFill>
                      <a:srgbClr val="FFFFFF"/>
                    </a:solidFill>
                  </a:tcPr>
                </a:tc>
              </a:tr>
              <a:tr h="420624">
                <a:tc>
                  <a:txBody>
                    <a:bodyPr wrap="square"/>
                    <a:lstStyle/>
                    <a:p>
                      <a:pPr algn="l"/>
                      <a:r>
                        <a:rPr sz="1400" b="0">
                          <a:solidFill>
                            <a:srgbClr val="14212E"/>
                          </a:solidFill>
                          <a:latin typeface="Calibri"/>
                        </a:rPr>
                        <a:t>M2 (strong ACL)</a:t>
                      </a:r>
                    </a:p>
                  </a:txBody>
                  <a:tcPr marL="91440" marR="91440" marT="45720" marB="45720" anchor="ctr">
                    <a:solidFill>
                      <a:srgbClr val="FFFFFF"/>
                    </a:solidFill>
                  </a:tcPr>
                </a:tc>
                <a:tc>
                  <a:txBody>
                    <a:bodyPr wrap="square"/>
                    <a:lstStyle/>
                    <a:p>
                      <a:pPr algn="r"/>
                      <a:r>
                        <a:rPr sz="1400" b="1">
                          <a:solidFill>
                            <a:srgbClr val="17724F"/>
                          </a:solidFill>
                          <a:latin typeface="Calibri"/>
                        </a:rPr>
                        <a:t>0.45</a:t>
                      </a:r>
                    </a:p>
                  </a:txBody>
                  <a:tcPr marL="91440" marR="91440" marT="45720" marB="45720" anchor="ctr">
                    <a:solidFill>
                      <a:srgbClr val="FFFFFF"/>
                    </a:solidFill>
                  </a:tcPr>
                </a:tc>
                <a:tc>
                  <a:txBody>
                    <a:bodyPr wrap="square"/>
                    <a:lstStyle/>
                    <a:p>
                      <a:pPr algn="r"/>
                      <a:r>
                        <a:rPr sz="1400" b="1">
                          <a:solidFill>
                            <a:srgbClr val="17724F"/>
                          </a:solidFill>
                          <a:latin typeface="Calibri"/>
                        </a:rPr>
                        <a:t>0.00</a:t>
                      </a:r>
                    </a:p>
                  </a:txBody>
                  <a:tcPr marL="91440" marR="91440" marT="45720" marB="45720" anchor="ctr">
                    <a:solidFill>
                      <a:srgbClr val="FFFFFF"/>
                    </a:solidFill>
                  </a:tcPr>
                </a:tc>
                <a:tc>
                  <a:txBody>
                    <a:bodyPr wrap="square"/>
                    <a:lstStyle/>
                    <a:p>
                      <a:pPr algn="l"/>
                      <a:r>
                        <a:rPr sz="1400" b="0">
                          <a:solidFill>
                            <a:srgbClr val="14212E"/>
                          </a:solidFill>
                          <a:latin typeface="Calibri"/>
                        </a:rPr>
                        <a:t>resolution 0.92 → 0.67</a:t>
                      </a:r>
                    </a:p>
                  </a:txBody>
                  <a:tcPr marL="91440" marR="91440" marT="45720" marB="45720" anchor="ctr">
                    <a:solidFill>
                      <a:srgbClr val="FFFFFF"/>
                    </a:solidFill>
                  </a:tcPr>
                </a:tc>
              </a:tr>
              <a:tr h="420624">
                <a:tc>
                  <a:txBody>
                    <a:bodyPr wrap="square"/>
                    <a:lstStyle/>
                    <a:p>
                      <a:pPr algn="l"/>
                      <a:r>
                        <a:rPr sz="1400" b="0">
                          <a:solidFill>
                            <a:srgbClr val="14212E"/>
                          </a:solidFill>
                          <a:latin typeface="Calibri"/>
                        </a:rPr>
                        <a:t>masking (rule)</a:t>
                      </a:r>
                    </a:p>
                  </a:txBody>
                  <a:tcPr marL="91440" marR="91440" marT="45720" marB="45720" anchor="ctr">
                    <a:solidFill>
                      <a:srgbClr val="FFFFFF"/>
                    </a:solidFill>
                  </a:tcPr>
                </a:tc>
                <a:tc>
                  <a:txBody>
                    <a:bodyPr wrap="square"/>
                    <a:lstStyle/>
                    <a:p>
                      <a:pPr algn="r"/>
                      <a:r>
                        <a:rPr sz="1400" b="1">
                          <a:solidFill>
                            <a:srgbClr val="C2410C"/>
                          </a:solidFill>
                          <a:latin typeface="Calibri"/>
                        </a:rPr>
                        <a:t>0.69</a:t>
                      </a:r>
                    </a:p>
                  </a:txBody>
                  <a:tcPr marL="91440" marR="91440" marT="45720" marB="45720" anchor="ctr">
                    <a:solidFill>
                      <a:srgbClr val="FFFFFF"/>
                    </a:solidFill>
                  </a:tcPr>
                </a:tc>
                <a:tc>
                  <a:txBody>
                    <a:bodyPr wrap="square"/>
                    <a:lstStyle/>
                    <a:p>
                      <a:pPr algn="r"/>
                      <a:r>
                        <a:rPr sz="1400" b="1">
                          <a:solidFill>
                            <a:srgbClr val="17724F"/>
                          </a:solidFill>
                          <a:latin typeface="Calibri"/>
                        </a:rPr>
                        <a:t>0.00</a:t>
                      </a:r>
                    </a:p>
                  </a:txBody>
                  <a:tcPr marL="91440" marR="91440" marT="45720" marB="45720" anchor="ctr">
                    <a:solidFill>
                      <a:srgbClr val="FFFFFF"/>
                    </a:solidFill>
                  </a:tcPr>
                </a:tc>
                <a:tc>
                  <a:txBody>
                    <a:bodyPr wrap="square"/>
                    <a:lstStyle/>
                    <a:p>
                      <a:pPr algn="l"/>
                      <a:r>
                        <a:rPr sz="1400" b="0">
                          <a:solidFill>
                            <a:srgbClr val="14212E"/>
                          </a:solidFill>
                          <a:latin typeface="Calibri"/>
                        </a:rPr>
                        <a:t>kept (resolution 0.92)</a:t>
                      </a:r>
                    </a:p>
                  </a:txBody>
                  <a:tcPr marL="91440" marR="91440" marT="45720" marB="45720" anchor="ctr">
                    <a:solidFill>
                      <a:srgbClr val="FFFFFF"/>
                    </a:solidFill>
                  </a:tcPr>
                </a:tc>
              </a:tr>
            </a:tbl>
          </a:graphicData>
        </a:graphic>
      </p:graphicFrame>
      <p:sp>
        <p:nvSpPr>
          <p:cNvPr id="5" name="Rounded Rectangle 4"/>
          <p:cNvSpPr/>
          <p:nvPr/>
        </p:nvSpPr>
        <p:spPr>
          <a:xfrm>
            <a:off x="731520" y="4434840"/>
            <a:ext cx="10725912" cy="777240"/>
          </a:xfrm>
          <a:prstGeom prst="roundRect">
            <a:avLst>
              <a:gd name="adj" fmla="val 6000"/>
            </a:avLst>
          </a:prstGeom>
          <a:solidFill>
            <a:srgbClr val="E3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Output-side fixes failed; only keeping confidential text out of the context closed the style channel. </a:t>
            </a:r>
            <a:r>
              <a:rPr sz="1500" b="0" i="0">
                <a:solidFill>
                  <a:srgbClr val="14212E"/>
                </a:solidFill>
                <a:latin typeface="Calibri"/>
              </a:rPr>
              <a:t>Masking closes content leakage but not the topic’s existence.</a:t>
            </a:r>
          </a:p>
        </p:txBody>
      </p:sp>
      <p:sp>
        <p:nvSpPr>
          <p:cNvPr id="6" name="Rounded Rectangle 5"/>
          <p:cNvSpPr/>
          <p:nvPr/>
        </p:nvSpPr>
        <p:spPr>
          <a:xfrm>
            <a:off x="731520" y="5349240"/>
            <a:ext cx="10725912" cy="822960"/>
          </a:xfrm>
          <a:prstGeom prst="roundRect">
            <a:avLst>
              <a:gd name="adj" fmla="val 6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400"/>
              </a:spcAft>
            </a:pPr>
            <a:r>
              <a:rPr sz="1500" b="1" i="0">
                <a:solidFill>
                  <a:srgbClr val="14212E"/>
                </a:solidFill>
                <a:latin typeface="Calibri"/>
              </a:rPr>
              <a:t>Additional study (multi-user memory): </a:t>
            </a:r>
            <a:r>
              <a:rPr sz="1500" b="0" i="0">
                <a:solidFill>
                  <a:srgbClr val="14212E"/>
                </a:solidFill>
                <a:latin typeface="Calibri"/>
              </a:rPr>
              <a:t>a shared memory leaked user A’s private data to user B in 52–72% of replies; per-user isolation: 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7"/>
        </a:solidFill>
        <a:effectLst/>
      </p:bgPr>
    </p:bg>
    <p:spTree>
      <p:nvGrpSpPr>
        <p:cNvPr id="1" name=""/>
        <p:cNvGrpSpPr/>
        <p:nvPr/>
      </p:nvGrpSpPr>
      <p:grpSpPr/>
      <p:sp>
        <p:nvSpPr>
          <p:cNvPr id="2" name="TextBox 1"/>
          <p:cNvSpPr txBox="1"/>
          <p:nvPr/>
        </p:nvSpPr>
        <p:spPr>
          <a:xfrm>
            <a:off x="731520" y="6355080"/>
            <a:ext cx="7315200" cy="274320"/>
          </a:xfrm>
          <a:prstGeom prst="rect">
            <a:avLst/>
          </a:prstGeom>
          <a:noFill/>
        </p:spPr>
        <p:txBody>
          <a:bodyPr wrap="square" lIns="0" rIns="0" tIns="0" bIns="0" anchor="t">
            <a:spAutoFit/>
          </a:bodyPr>
          <a:lstStyle/>
          <a:p>
            <a:pPr algn="l">
              <a:spcAft>
                <a:spcPts val="400"/>
              </a:spcAft>
            </a:pPr>
            <a:r>
              <a:rPr sz="1200" b="0" i="0">
                <a:solidFill>
                  <a:srgbClr val="566475"/>
                </a:solidFill>
                <a:latin typeface="Calibri"/>
              </a:rPr>
              <a:t>BLG558E · Security &amp; Privacy · Final Project</a:t>
            </a:r>
          </a:p>
        </p:txBody>
      </p:sp>
      <p:sp>
        <p:nvSpPr>
          <p:cNvPr id="3" name="TextBox 2"/>
          <p:cNvSpPr txBox="1"/>
          <p:nvPr/>
        </p:nvSpPr>
        <p:spPr>
          <a:xfrm>
            <a:off x="731520" y="384048"/>
            <a:ext cx="10725912" cy="822960"/>
          </a:xfrm>
          <a:prstGeom prst="rect">
            <a:avLst/>
          </a:prstGeom>
          <a:noFill/>
        </p:spPr>
        <p:txBody>
          <a:bodyPr wrap="square" lIns="0" rIns="0" tIns="0" bIns="0" anchor="ctr">
            <a:spAutoFit/>
          </a:bodyPr>
          <a:lstStyle/>
          <a:p>
            <a:pPr algn="l">
              <a:spcAft>
                <a:spcPts val="400"/>
              </a:spcAft>
            </a:pPr>
            <a:r>
              <a:rPr sz="2800" b="1" i="0">
                <a:solidFill>
                  <a:srgbClr val="14212E"/>
                </a:solidFill>
                <a:latin typeface="Cambria"/>
              </a:rPr>
              <a:t>Challenges and conclusions</a:t>
            </a:r>
          </a:p>
        </p:txBody>
      </p:sp>
      <p:sp>
        <p:nvSpPr>
          <p:cNvPr id="4" name="Rounded Rectangle 3"/>
          <p:cNvSpPr/>
          <p:nvPr/>
        </p:nvSpPr>
        <p:spPr>
          <a:xfrm>
            <a:off x="731520" y="1325880"/>
            <a:ext cx="5120640" cy="4754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C2410C"/>
                </a:solidFill>
                <a:latin typeface="Calibri"/>
              </a:rPr>
              <a:t>Challenges and limits</a:t>
            </a:r>
          </a:p>
          <a:p>
            <a:pPr algn="l">
              <a:spcAft>
                <a:spcPts val="800"/>
              </a:spcAft>
            </a:pPr>
            <a:r>
              <a:rPr sz="1500" b="0" i="0">
                <a:solidFill>
                  <a:srgbClr val="14212E"/>
                </a:solidFill>
                <a:latin typeface="Calibri"/>
              </a:rPr>
              <a:t>• Scale: 10+10 topics, 5 variants, one repetition; small effects cannot be excluded.</a:t>
            </a:r>
          </a:p>
          <a:p>
            <a:pPr algn="l">
              <a:spcAft>
                <a:spcPts val="800"/>
              </a:spcAft>
            </a:pPr>
            <a:r>
              <a:rPr sz="1500" b="0" i="0">
                <a:solidFill>
                  <a:srgbClr val="14212E"/>
                </a:solidFill>
                <a:latin typeface="Calibri"/>
              </a:rPr>
              <a:t>• Two small local open-weight models; no commercial model.</a:t>
            </a:r>
          </a:p>
          <a:p>
            <a:pPr algn="l">
              <a:spcAft>
                <a:spcPts val="800"/>
              </a:spcAft>
            </a:pPr>
            <a:r>
              <a:rPr sz="1500" b="0" i="0">
                <a:solidFill>
                  <a:srgbClr val="14212E"/>
                </a:solidFill>
                <a:latin typeface="Calibri"/>
              </a:rPr>
              <a:t>• One author wrote the data; “what is secret” is a policy choice.</a:t>
            </a:r>
          </a:p>
          <a:p>
            <a:pPr algn="l">
              <a:spcAft>
                <a:spcPts val="800"/>
              </a:spcAft>
            </a:pPr>
            <a:r>
              <a:rPr sz="1500" b="0" i="0">
                <a:solidFill>
                  <a:srgbClr val="14212E"/>
                </a:solidFill>
                <a:latin typeface="Calibri"/>
              </a:rPr>
              <a:t>• No multiple-testing correction: single p ≈ 0.03 results are hints.</a:t>
            </a:r>
          </a:p>
          <a:p>
            <a:pPr algn="l">
              <a:spcAft>
                <a:spcPts val="800"/>
              </a:spcAft>
            </a:pPr>
            <a:r>
              <a:rPr sz="1500" b="0" i="0">
                <a:solidFill>
                  <a:srgbClr val="14212E"/>
                </a:solidFill>
                <a:latin typeface="Calibri"/>
              </a:rPr>
              <a:t>• Behavior channel “not found” is not “not there”: the agent rarely escalates or refuses.</a:t>
            </a:r>
          </a:p>
          <a:p>
            <a:pPr algn="l">
              <a:spcAft>
                <a:spcPts val="800"/>
              </a:spcAft>
            </a:pPr>
            <a:r>
              <a:rPr sz="1500" b="0" i="0">
                <a:solidFill>
                  <a:srgbClr val="14212E"/>
                </a:solidFill>
                <a:latin typeface="Calibri"/>
              </a:rPr>
              <a:t>• Latency is unreliable on shared hardware.</a:t>
            </a:r>
          </a:p>
        </p:txBody>
      </p:sp>
      <p:sp>
        <p:nvSpPr>
          <p:cNvPr id="5" name="Rounded Rectangle 4"/>
          <p:cNvSpPr/>
          <p:nvPr/>
        </p:nvSpPr>
        <p:spPr>
          <a:xfrm>
            <a:off x="6080759" y="1325880"/>
            <a:ext cx="5376672" cy="47548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91440" bIns="91440"/>
          <a:lstStyle/>
          <a:p>
            <a:pPr algn="l">
              <a:spcAft>
                <a:spcPts val="800"/>
              </a:spcAft>
            </a:pPr>
            <a:r>
              <a:rPr sz="2000" b="1" i="0">
                <a:solidFill>
                  <a:srgbClr val="EEF2F6"/>
                </a:solidFill>
                <a:latin typeface="Calibri"/>
              </a:rPr>
              <a:t>Conclusions</a:t>
            </a:r>
          </a:p>
          <a:p>
            <a:pPr algn="l">
              <a:spcAft>
                <a:spcPts val="800"/>
              </a:spcAft>
            </a:pPr>
            <a:r>
              <a:rPr sz="1500" b="1" i="0">
                <a:solidFill>
                  <a:srgbClr val="F08A63"/>
                </a:solidFill>
                <a:latin typeface="Calibri"/>
              </a:rPr>
              <a:t>1  </a:t>
            </a:r>
            <a:r>
              <a:rPr sz="1500" b="0" i="0">
                <a:solidFill>
                  <a:srgbClr val="EEF2F6"/>
                </a:solidFill>
                <a:latin typeface="Calibri"/>
              </a:rPr>
              <a:t>Weak ACL leaks the secret directly; a strong ACL (filter before the model) closes it.</a:t>
            </a:r>
          </a:p>
          <a:p>
            <a:pPr algn="l">
              <a:spcAft>
                <a:spcPts val="800"/>
              </a:spcAft>
            </a:pPr>
            <a:r>
              <a:rPr sz="1500" b="1" i="0">
                <a:solidFill>
                  <a:srgbClr val="F08A63"/>
                </a:solidFill>
                <a:latin typeface="Calibri"/>
              </a:rPr>
              <a:t>2  </a:t>
            </a:r>
            <a:r>
              <a:rPr sz="1500" b="0" i="0">
                <a:solidFill>
                  <a:srgbClr val="EEF2F6"/>
                </a:solidFill>
                <a:latin typeface="Calibri"/>
              </a:rPr>
              <a:t>The side channel is reply style (AUC 0.82), not decision fields.</a:t>
            </a:r>
          </a:p>
          <a:p>
            <a:pPr algn="l">
              <a:spcAft>
                <a:spcPts val="800"/>
              </a:spcAft>
            </a:pPr>
            <a:r>
              <a:rPr sz="1500" b="1" i="0">
                <a:solidFill>
                  <a:srgbClr val="F08A63"/>
                </a:solidFill>
                <a:latin typeface="Calibri"/>
              </a:rPr>
              <a:t>3  </a:t>
            </a:r>
            <a:r>
              <a:rPr sz="1500" b="0" i="0">
                <a:solidFill>
                  <a:srgbClr val="EEF2F6"/>
                </a:solidFill>
                <a:latin typeface="Calibri"/>
              </a:rPr>
              <a:t>Only keeping confidential text out of the context closed it; masking does not hide the topic’s existence.</a:t>
            </a:r>
          </a:p>
          <a:p>
            <a:pPr algn="l">
              <a:spcAft>
                <a:spcPts val="800"/>
              </a:spcAft>
            </a:pPr>
            <a:r>
              <a:rPr sz="1500" b="1" i="0">
                <a:solidFill>
                  <a:srgbClr val="F08A63"/>
                </a:solidFill>
                <a:latin typeface="Calibri"/>
              </a:rPr>
              <a:t>4  </a:t>
            </a:r>
            <a:r>
              <a:rPr sz="1500" b="0" i="0">
                <a:solidFill>
                  <a:srgbClr val="EEF2F6"/>
                </a:solidFill>
                <a:latin typeface="Calibri"/>
              </a:rPr>
              <a:t>Shared memory leaks across users; per-user isolation removes it.</a:t>
            </a:r>
          </a:p>
          <a:p>
            <a:pPr algn="l">
              <a:spcAft>
                <a:spcPts val="800"/>
              </a:spcAft>
            </a:pPr>
            <a:r>
              <a:rPr sz="1400" b="0" i="0">
                <a:solidFill>
                  <a:srgbClr val="8FA3B8"/>
                </a:solidFill>
                <a:latin typeface="Calibri"/>
              </a:rPr>
              <a:t>Future work: more topics, a commercial model, other secret policies, authenticated isolation.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Side-Channel Leakage in External AI Service Agents</dc:title>
  <dc:subject>BLG558E - Security &amp; Privacy - Final Project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